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400" r:id="rId3"/>
    <p:sldId id="258" r:id="rId4"/>
    <p:sldId id="303" r:id="rId5"/>
    <p:sldId id="306" r:id="rId6"/>
    <p:sldId id="307" r:id="rId7"/>
    <p:sldId id="475" r:id="rId8"/>
    <p:sldId id="476" r:id="rId9"/>
    <p:sldId id="477" r:id="rId10"/>
    <p:sldId id="478" r:id="rId11"/>
    <p:sldId id="479" r:id="rId12"/>
    <p:sldId id="480" r:id="rId13"/>
    <p:sldId id="481" r:id="rId14"/>
    <p:sldId id="308" r:id="rId15"/>
    <p:sldId id="482" r:id="rId16"/>
    <p:sldId id="483" r:id="rId17"/>
    <p:sldId id="484" r:id="rId18"/>
    <p:sldId id="485" r:id="rId19"/>
    <p:sldId id="486" r:id="rId20"/>
    <p:sldId id="487" r:id="rId21"/>
    <p:sldId id="488" r:id="rId22"/>
    <p:sldId id="489" r:id="rId23"/>
    <p:sldId id="490" r:id="rId24"/>
    <p:sldId id="491" r:id="rId25"/>
    <p:sldId id="492" r:id="rId26"/>
    <p:sldId id="493" r:id="rId27"/>
    <p:sldId id="494" r:id="rId28"/>
    <p:sldId id="495" r:id="rId29"/>
    <p:sldId id="496" r:id="rId30"/>
    <p:sldId id="497" r:id="rId31"/>
    <p:sldId id="498" r:id="rId32"/>
    <p:sldId id="499" r:id="rId33"/>
    <p:sldId id="500" r:id="rId34"/>
    <p:sldId id="501" r:id="rId35"/>
    <p:sldId id="502" r:id="rId36"/>
    <p:sldId id="503" r:id="rId37"/>
    <p:sldId id="505" r:id="rId38"/>
    <p:sldId id="506" r:id="rId39"/>
    <p:sldId id="507" r:id="rId40"/>
    <p:sldId id="508" r:id="rId41"/>
    <p:sldId id="509" r:id="rId42"/>
    <p:sldId id="504" r:id="rId43"/>
    <p:sldId id="510" r:id="rId44"/>
    <p:sldId id="511" r:id="rId45"/>
    <p:sldId id="512" r:id="rId46"/>
    <p:sldId id="513" r:id="rId47"/>
    <p:sldId id="514" r:id="rId48"/>
    <p:sldId id="515" r:id="rId49"/>
    <p:sldId id="516" r:id="rId50"/>
    <p:sldId id="260" r:id="rId51"/>
    <p:sldId id="318" r:id="rId52"/>
    <p:sldId id="263" r:id="rId5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72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03/10/2026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6" name="Marcador de pie de página 5">
            <a:extLst>
              <a:ext uri="{FF2B5EF4-FFF2-40B4-BE49-F238E27FC236}">
                <a16:creationId xmlns=""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8" name="Marcador de pie de página 7">
            <a:extLst>
              <a:ext uri="{FF2B5EF4-FFF2-40B4-BE49-F238E27FC236}">
                <a16:creationId xmlns=""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4" name="Marcador de pie de página 3">
            <a:extLst>
              <a:ext uri="{FF2B5EF4-FFF2-40B4-BE49-F238E27FC236}">
                <a16:creationId xmlns=""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3" name="Marcador de pie de página 2">
            <a:extLst>
              <a:ext uri="{FF2B5EF4-FFF2-40B4-BE49-F238E27FC236}">
                <a16:creationId xmlns=""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6" name="Marcador de pie de página 5">
            <a:extLst>
              <a:ext uri="{FF2B5EF4-FFF2-40B4-BE49-F238E27FC236}">
                <a16:creationId xmlns=""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6" name="Marcador de pie de página 5">
            <a:extLst>
              <a:ext uri="{FF2B5EF4-FFF2-40B4-BE49-F238E27FC236}">
                <a16:creationId xmlns=""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03/10/2026</a:t>
            </a:fld>
            <a:endParaRPr lang="es-MX"/>
          </a:p>
        </p:txBody>
      </p:sp>
      <p:sp>
        <p:nvSpPr>
          <p:cNvPr id="5" name="Marcador de pie de página 4">
            <a:extLst>
              <a:ext uri="{FF2B5EF4-FFF2-40B4-BE49-F238E27FC236}">
                <a16:creationId xmlns=""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www.google.com/search?q=https://www.youtube.com/watch?v%3DwyxyEQROXjY&amp;utm_source=gemini" TargetMode="External"/><Relationship Id="rId2" Type="http://schemas.openxmlformats.org/officeDocument/2006/relationships/hyperlink" Target="https://www.youtube.com/watch?v=YXPyB4XeYLA"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 xmlns:a16="http://schemas.microsoft.com/office/drawing/2014/main" id="{13792C0E-56A4-038E-25C8-41619E973B3F}"/>
              </a:ext>
            </a:extLst>
          </p:cNvPr>
          <p:cNvPicPr>
            <a:picLocks noChangeAspect="1"/>
          </p:cNvPicPr>
          <p:nvPr/>
        </p:nvPicPr>
        <p:blipFill>
          <a:blip r:embed="rId2" cstate="email">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 xmlns:a16="http://schemas.microsoft.com/office/drawing/2014/main" id="{76F1C2F9-DDFC-CBF2-E48A-E64DE4A37DF6}"/>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 xmlns:a16="http://schemas.microsoft.com/office/drawing/2014/main" id="{503E3447-738B-D8B1-B47D-8EBA647E114F}"/>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 xmlns:a16="http://schemas.microsoft.com/office/drawing/2014/main" id="{1FA8327A-BF41-1978-27AD-7942D85077F5}"/>
              </a:ext>
            </a:extLst>
          </p:cNvPr>
          <p:cNvSpPr txBox="1"/>
          <p:nvPr/>
        </p:nvSpPr>
        <p:spPr>
          <a:xfrm>
            <a:off x="2550694" y="1824715"/>
            <a:ext cx="6096000" cy="1219565"/>
          </a:xfrm>
          <a:prstGeom prst="rect">
            <a:avLst/>
          </a:prstGeom>
          <a:noFill/>
        </p:spPr>
        <p:txBody>
          <a:bodyPr wrap="square">
            <a:spAutoFit/>
          </a:bodyPr>
          <a:lstStyle/>
          <a:p>
            <a:pPr algn="ctr">
              <a:lnSpc>
                <a:spcPct val="107000"/>
              </a:lnSpc>
              <a:spcAft>
                <a:spcPts val="800"/>
              </a:spcAft>
              <a:buNone/>
            </a:pPr>
            <a:r>
              <a:rPr lang="en-US" b="1" kern="0" dirty="0" smtClean="0">
                <a:latin typeface="Arial" panose="020B0604020202020204" pitchFamily="34" charset="0"/>
                <a:ea typeface="Arial" panose="020B0604020202020204" pitchFamily="34" charset="0"/>
                <a:cs typeface="Arial" panose="020B0604020202020204" pitchFamily="34" charset="0"/>
              </a:rPr>
              <a:t>SIMULACION</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4</a:t>
            </a:r>
            <a:r>
              <a:rPr lang="es-MX" sz="2000" b="1" kern="0" dirty="0" smtClean="0">
                <a:latin typeface="Arial" panose="020B0604020202020204" pitchFamily="34" charset="0"/>
                <a:ea typeface="Arial" panose="020B0604020202020204" pitchFamily="34" charset="0"/>
                <a:cs typeface="Arial" panose="020B0604020202020204" pitchFamily="34" charset="0"/>
              </a:rPr>
              <a:t>.2</a:t>
            </a:r>
            <a:r>
              <a:rPr lang="es-MX" sz="2000" b="1" kern="0" dirty="0" smtClean="0">
                <a:effectLst/>
                <a:latin typeface="Arial" panose="020B0604020202020204" pitchFamily="34" charset="0"/>
                <a:ea typeface="Arial" panose="020B0604020202020204" pitchFamily="34" charset="0"/>
                <a:cs typeface="Arial" panose="020B0604020202020204" pitchFamily="34" charset="0"/>
              </a:rPr>
              <a:t> </a:t>
            </a:r>
            <a:r>
              <a:rPr lang="es-MX" sz="2000" b="1" kern="0" dirty="0">
                <a:effectLst/>
                <a:latin typeface="Arial" panose="020B0604020202020204" pitchFamily="34" charset="0"/>
                <a:ea typeface="Arial" panose="020B0604020202020204" pitchFamily="34" charset="0"/>
                <a:cs typeface="Arial" panose="020B0604020202020204" pitchFamily="34" charset="0"/>
              </a:rPr>
              <a:t>–REPORTE DE PRACTICA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810627823"/>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 xmlns:a16="http://schemas.microsoft.com/office/drawing/2014/main" val="3511045433"/>
                    </a:ext>
                  </a:extLst>
                </a:gridCol>
                <a:gridCol w="1808480">
                  <a:extLst>
                    <a:ext uri="{9D8B030D-6E8A-4147-A177-3AD203B41FA5}">
                      <a16:colId xmlns=""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smtClean="0">
                          <a:solidFill>
                            <a:schemeClr val="tx1"/>
                          </a:solidFill>
                          <a:effectLst/>
                          <a:latin typeface="+mn-lt"/>
                          <a:ea typeface="+mn-ea"/>
                          <a:cs typeface="+mn-cs"/>
                        </a:rPr>
                        <a:t>QUINTO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smtClean="0">
                          <a:solidFill>
                            <a:schemeClr val="tx1"/>
                          </a:solidFill>
                          <a:effectLst/>
                          <a:latin typeface="+mn-lt"/>
                          <a:ea typeface="+mn-ea"/>
                          <a:cs typeface="+mn-cs"/>
                        </a:rPr>
                        <a:t>BRANDON</a:t>
                      </a:r>
                      <a:r>
                        <a:rPr lang="en-US" sz="1200" b="1" kern="0" baseline="0" dirty="0" smtClean="0">
                          <a:solidFill>
                            <a:schemeClr val="tx1"/>
                          </a:solidFill>
                          <a:effectLst/>
                          <a:latin typeface="+mn-lt"/>
                          <a:ea typeface="+mn-ea"/>
                          <a:cs typeface="+mn-cs"/>
                        </a:rPr>
                        <a:t> FARITH LOPEZ NANGA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smtClean="0">
                          <a:solidFill>
                            <a:schemeClr val="tx1"/>
                          </a:solidFill>
                          <a:effectLst/>
                          <a:latin typeface="+mn-lt"/>
                          <a:ea typeface="+mn-ea"/>
                          <a:cs typeface="+mn-cs"/>
                        </a:rPr>
                        <a:t>241260050</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 xmlns:a16="http://schemas.microsoft.com/office/drawing/2014/main" val="1298394392"/>
                  </a:ext>
                </a:extLst>
              </a:tr>
            </a:tbl>
          </a:graphicData>
        </a:graphic>
      </p:graphicFrame>
      <p:sp>
        <p:nvSpPr>
          <p:cNvPr id="21" name="CuadroTexto 20">
            <a:extLst>
              <a:ext uri="{FF2B5EF4-FFF2-40B4-BE49-F238E27FC236}">
                <a16:creationId xmlns=""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a:latin typeface="Arial" panose="020B0604020202020204" pitchFamily="34" charset="0"/>
                <a:ea typeface="Times New Roman" panose="02020603050405020304" pitchFamily="18" charset="0"/>
                <a:cs typeface="Arial" panose="020B0604020202020204" pitchFamily="34" charset="0"/>
              </a:rPr>
              <a:t>2</a:t>
            </a:r>
            <a:r>
              <a:rPr lang="es-MX" sz="2000" b="1" kern="0" smtClean="0">
                <a:latin typeface="Arial" panose="020B0604020202020204" pitchFamily="34" charset="0"/>
                <a:ea typeface="Times New Roman" panose="02020603050405020304" pitchFamily="18" charset="0"/>
                <a:cs typeface="Arial" panose="020B0604020202020204" pitchFamily="34" charset="0"/>
              </a:rPr>
              <a:t>9 </a:t>
            </a:r>
            <a:r>
              <a:rPr lang="es-MX" sz="2000" b="1" kern="0" smtClean="0">
                <a:latin typeface="Arial" panose="020B0604020202020204" pitchFamily="34" charset="0"/>
                <a:ea typeface="Times New Roman" panose="02020603050405020304" pitchFamily="18" charset="0"/>
                <a:cs typeface="Arial" panose="020B0604020202020204" pitchFamily="34" charset="0"/>
              </a:rPr>
              <a:t>DE SEPTIEMBRE</a:t>
            </a:r>
            <a:r>
              <a:rPr lang="es-MX" sz="2000" b="1" kern="0" smtClean="0">
                <a:effectLst/>
                <a:latin typeface="Arial" panose="020B0604020202020204" pitchFamily="34" charset="0"/>
                <a:ea typeface="Times New Roman" panose="02020603050405020304" pitchFamily="18" charset="0"/>
                <a:cs typeface="Arial" panose="020B0604020202020204" pitchFamily="34" charset="0"/>
              </a:rPr>
              <a:t>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r>
              <a:rPr lang="en-US" sz="1800" kern="0" dirty="0">
                <a:effectLst/>
                <a:latin typeface="Arial" panose="020B0604020202020204" pitchFamily="34" charset="0"/>
                <a:ea typeface="Arial" panose="020B0604020202020204" pitchFamily="34" charset="0"/>
              </a:rPr>
              <a:t/>
            </a: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 xmlns:a16="http://schemas.microsoft.com/office/drawing/2014/main" id="{E123D5AD-B34F-94DE-CA8C-4E027E6EDC22}"/>
              </a:ext>
            </a:extLst>
          </p:cNvPr>
          <p:cNvSpPr>
            <a:spLocks noGrp="1"/>
          </p:cNvSpPr>
          <p:nvPr>
            <p:ph idx="1"/>
          </p:nvPr>
        </p:nvSpPr>
        <p:spPr>
          <a:xfrm>
            <a:off x="838200" y="294968"/>
            <a:ext cx="10515600" cy="5881995"/>
          </a:xfrm>
          <a:ln>
            <a:solidFill>
              <a:schemeClr val="accent5">
                <a:lumMod val="75000"/>
              </a:schemeClr>
            </a:solidFill>
          </a:ln>
        </p:spPr>
        <p:txBody>
          <a:bodyPr>
            <a:normAutofit lnSpcReduction="10000"/>
          </a:bodyPr>
          <a:lstStyle/>
          <a:p>
            <a:pPr marL="0" indent="0" algn="ctr">
              <a:buNone/>
            </a:pPr>
            <a:r>
              <a:rPr lang="es-MX" sz="5200" b="1" kern="0" dirty="0" smtClean="0">
                <a:solidFill>
                  <a:srgbClr val="FF0000"/>
                </a:solidFill>
                <a:latin typeface="+mj-lt"/>
                <a:cs typeface="Arial" panose="020B0604020202020204" pitchFamily="34" charset="0"/>
              </a:rPr>
              <a:t>Introducción</a:t>
            </a:r>
          </a:p>
          <a:p>
            <a:pPr marL="0" indent="0" algn="just">
              <a:lnSpc>
                <a:spcPct val="150000"/>
              </a:lnSpc>
              <a:buNone/>
            </a:pPr>
            <a:r>
              <a:rPr lang="es-ES" dirty="0"/>
              <a:t>En esta práctica se realizó la exploración de diferentes programas y lenguajes que pueden utilizarse para crear simulaciones. La actividad permitió conocer nuevas herramientas y observar de manera práctica cómo se pueden representar diferentes situaciones mediante la programación. También se buscó experimentar con cada programa y conocer algunas de sus funciones principales, para tener una idea más clara de las diferentes formas en las que se pueden realizar simulaciones.</a:t>
            </a:r>
            <a:endParaRPr lang="es-ES" dirty="0">
              <a:solidFill>
                <a:srgbClr val="FF0000"/>
              </a:solidFill>
            </a:endParaRPr>
          </a:p>
        </p:txBody>
      </p:sp>
    </p:spTree>
    <p:extLst>
      <p:ext uri="{BB962C8B-B14F-4D97-AF65-F5344CB8AC3E}">
        <p14:creationId xmlns:p14="http://schemas.microsoft.com/office/powerpoint/2010/main" val="139788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 xmlns:a16="http://schemas.microsoft.com/office/drawing/2014/main" id="{448F6C57-A8B1-DC96-5869-560383E7A005}"/>
              </a:ext>
            </a:extLst>
          </p:cNvPr>
          <p:cNvSpPr>
            <a:spLocks noGrp="1"/>
          </p:cNvSpPr>
          <p:nvPr>
            <p:ph idx="1"/>
          </p:nvPr>
        </p:nvSpPr>
        <p:spPr>
          <a:xfrm>
            <a:off x="877529" y="576929"/>
            <a:ext cx="10515600" cy="4351338"/>
          </a:xfrm>
        </p:spPr>
        <p:txBody>
          <a:bodyPr>
            <a:normAutofit/>
          </a:bodyPr>
          <a:lstStyle/>
          <a:p>
            <a:pPr marL="0" indent="0" algn="ctr">
              <a:spcBef>
                <a:spcPct val="0"/>
              </a:spcBef>
              <a:buNone/>
            </a:pPr>
            <a:r>
              <a:rPr lang="es-MX" sz="4800" b="1" dirty="0">
                <a:solidFill>
                  <a:srgbClr val="FF0000"/>
                </a:solidFill>
                <a:latin typeface="+mj-lt"/>
                <a:ea typeface="+mj-ea"/>
                <a:cs typeface="+mj-cs"/>
              </a:rPr>
              <a:t>Objetivo</a:t>
            </a:r>
          </a:p>
          <a:p>
            <a:pPr marL="0" indent="0" algn="just">
              <a:lnSpc>
                <a:spcPct val="150000"/>
              </a:lnSpc>
              <a:buNone/>
            </a:pPr>
            <a:r>
              <a:rPr lang="es-ES" dirty="0"/>
              <a:t>A</a:t>
            </a:r>
            <a:r>
              <a:rPr lang="es-ES" dirty="0" smtClean="0"/>
              <a:t>plicar </a:t>
            </a:r>
            <a:r>
              <a:rPr lang="es-ES" dirty="0"/>
              <a:t>los conocimientos adquiridos sobre simulación de procesos mediante el uso de diferentes herramientas de programación. Se busca representar situaciones de manera práctica y comprender cómo funcionan los modelos simulados. También se pretende analizar los resultados obtenidos en cada ejecución</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54D3867A-3E04-8632-141B-8C5FDD171C9C}"/>
              </a:ext>
            </a:extLst>
          </p:cNvPr>
          <p:cNvSpPr>
            <a:spLocks noGrp="1"/>
          </p:cNvSpPr>
          <p:nvPr>
            <p:ph type="title"/>
          </p:nvPr>
        </p:nvSpPr>
        <p:spPr>
          <a:xfrm>
            <a:off x="277761" y="1"/>
            <a:ext cx="10515600" cy="855406"/>
          </a:xfrm>
        </p:spPr>
        <p:txBody>
          <a:bodyPr>
            <a:normAutofit/>
          </a:bodyPr>
          <a:lstStyle/>
          <a:p>
            <a:pPr algn="ctr"/>
            <a:r>
              <a:rPr lang="es-MX" sz="4800" b="1" dirty="0" err="1">
                <a:solidFill>
                  <a:srgbClr val="FF0000"/>
                </a:solidFill>
              </a:rPr>
              <a:t>justificacion</a:t>
            </a:r>
            <a:endParaRPr lang="es-MX" sz="4800" b="1" dirty="0">
              <a:solidFill>
                <a:srgbClr val="FF0000"/>
              </a:solidFill>
            </a:endParaRPr>
          </a:p>
        </p:txBody>
      </p:sp>
      <p:sp>
        <p:nvSpPr>
          <p:cNvPr id="3" name="Rectangle 1"/>
          <p:cNvSpPr>
            <a:spLocks noGrp="1" noChangeArrowheads="1"/>
          </p:cNvSpPr>
          <p:nvPr>
            <p:ph idx="1"/>
          </p:nvPr>
        </p:nvSpPr>
        <p:spPr bwMode="auto">
          <a:xfrm>
            <a:off x="420738" y="1082871"/>
            <a:ext cx="1152014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s-MX" altLang="es-MX"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1800" b="0" i="0" u="none" strike="noStrike" cap="none" normalizeH="0" baseline="0" dirty="0" smtClean="0">
                <a:ln>
                  <a:noFill/>
                </a:ln>
                <a:solidFill>
                  <a:schemeClr val="tx1"/>
                </a:solidFill>
                <a:effectLst/>
                <a:latin typeface="Arial" panose="020B0604020202020204" pitchFamily="34" charset="0"/>
              </a:rPr>
              <a:t>Ayuda a comprender cómo se pueden representar diferentes situaciones mediante modelos computacionales.</a:t>
            </a:r>
          </a:p>
          <a:p>
            <a:pPr marL="0" marR="0" lvl="0" indent="0" algn="l" defTabSz="914400" rtl="0" eaLnBrk="0" fontAlgn="base" latinLnBrk="0" hangingPunct="0">
              <a:lnSpc>
                <a:spcPct val="150000"/>
              </a:lnSpc>
              <a:spcBef>
                <a:spcPct val="0"/>
              </a:spcBef>
              <a:spcAft>
                <a:spcPct val="0"/>
              </a:spcAft>
              <a:buClrTx/>
              <a:buSzTx/>
              <a:buNone/>
              <a:tabLst/>
            </a:pPr>
            <a:r>
              <a:rPr kumimoji="0" lang="es-MX" altLang="es-MX"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1800" b="0" i="0" u="none" strike="noStrike" cap="none" normalizeH="0" baseline="0" dirty="0" smtClean="0">
                <a:ln>
                  <a:noFill/>
                </a:ln>
                <a:solidFill>
                  <a:schemeClr val="tx1"/>
                </a:solidFill>
                <a:effectLst/>
                <a:latin typeface="Arial" panose="020B0604020202020204" pitchFamily="34" charset="0"/>
              </a:rPr>
              <a:t>Facilita el análisis de los resultados obtenidos durante las diferentes ejecuciones de la simulación. </a:t>
            </a:r>
          </a:p>
          <a:p>
            <a:pPr marL="0" marR="0" lvl="0" indent="0" algn="l" defTabSz="914400" rtl="0" eaLnBrk="0" fontAlgn="base" latinLnBrk="0" hangingPunct="0">
              <a:lnSpc>
                <a:spcPct val="150000"/>
              </a:lnSpc>
              <a:spcBef>
                <a:spcPct val="0"/>
              </a:spcBef>
              <a:spcAft>
                <a:spcPct val="0"/>
              </a:spcAft>
              <a:buClrTx/>
              <a:buSzTx/>
              <a:buNone/>
              <a:tabLst/>
            </a:pPr>
            <a:endParaRPr kumimoji="0" lang="es-MX" altLang="es-MX"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1800" b="0" i="0" u="none" strike="noStrike" cap="none" normalizeH="0" baseline="0" dirty="0" smtClean="0">
                <a:ln>
                  <a:noFill/>
                </a:ln>
                <a:solidFill>
                  <a:schemeClr val="tx1"/>
                </a:solidFill>
                <a:effectLst/>
                <a:latin typeface="Arial" panose="020B0604020202020204" pitchFamily="34" charset="0"/>
              </a:rPr>
              <a:t>Permite desarrollar habilidades para resolver problemas mediante el uso de herramientas tecnológicas. </a:t>
            </a:r>
          </a:p>
          <a:p>
            <a:pPr marL="0" marR="0" lvl="0" indent="0" algn="l" defTabSz="914400" rtl="0" eaLnBrk="0" fontAlgn="base" latinLnBrk="0" hangingPunct="0">
              <a:lnSpc>
                <a:spcPct val="150000"/>
              </a:lnSpc>
              <a:spcBef>
                <a:spcPct val="0"/>
              </a:spcBef>
              <a:spcAft>
                <a:spcPct val="0"/>
              </a:spcAft>
              <a:buClrTx/>
              <a:buSzTx/>
              <a:buNone/>
              <a:tabLst/>
            </a:pPr>
            <a:endParaRPr kumimoji="0" lang="es-MX" altLang="es-MX"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s-MX" altLang="es-MX" sz="1800" b="0" i="0" u="none" strike="noStrike" cap="none" normalizeH="0" baseline="0" dirty="0" smtClean="0">
                <a:ln>
                  <a:noFill/>
                </a:ln>
                <a:solidFill>
                  <a:schemeClr val="tx1"/>
                </a:solidFill>
                <a:effectLst/>
                <a:latin typeface="Arial" panose="020B0604020202020204" pitchFamily="34" charset="0"/>
              </a:rPr>
              <a:t>Contribuye a relacionar los conocimientos teóricos con situaciones prácticas y reales. </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0FF087FE-E319-B15E-5F4B-711B6076678D}"/>
              </a:ext>
            </a:extLst>
          </p:cNvPr>
          <p:cNvSpPr>
            <a:spLocks noGrp="1"/>
          </p:cNvSpPr>
          <p:nvPr>
            <p:ph type="title"/>
          </p:nvPr>
        </p:nvSpPr>
        <p:spPr/>
        <p:txBody>
          <a:bodyPr>
            <a:normAutofit/>
          </a:bodyPr>
          <a:lstStyle/>
          <a:p>
            <a:pPr algn="ctr"/>
            <a:r>
              <a:rPr lang="es-MX" b="1" dirty="0" smtClean="0">
                <a:solidFill>
                  <a:srgbClr val="FF0000"/>
                </a:solidFill>
              </a:rPr>
              <a:t>PROGRAMA 1 EN RSTUDIO, FILA_ESPERA</a:t>
            </a:r>
            <a:br>
              <a:rPr lang="es-MX" b="1" dirty="0" smtClean="0">
                <a:solidFill>
                  <a:srgbClr val="FF0000"/>
                </a:solidFill>
              </a:rPr>
            </a:br>
            <a:r>
              <a:rPr lang="es-MX" dirty="0">
                <a:solidFill>
                  <a:srgbClr val="FF0000"/>
                </a:solidFill>
              </a:rPr>
              <a:t>Página Principal de </a:t>
            </a:r>
            <a:r>
              <a:rPr lang="es-MX" dirty="0" smtClean="0">
                <a:solidFill>
                  <a:srgbClr val="FF0000"/>
                </a:solidFill>
              </a:rPr>
              <a:t>RSTUDIO</a:t>
            </a:r>
            <a:endParaRPr lang="es-MX" b="1" dirty="0">
              <a:solidFill>
                <a:srgbClr val="FF0000"/>
              </a:solidFill>
            </a:endParaRPr>
          </a:p>
        </p:txBody>
      </p:sp>
      <p:sp>
        <p:nvSpPr>
          <p:cNvPr id="5" name="CuadroTexto 4">
            <a:extLst>
              <a:ext uri="{FF2B5EF4-FFF2-40B4-BE49-F238E27FC236}">
                <a16:creationId xmlns="" xmlns:a16="http://schemas.microsoft.com/office/drawing/2014/main" id="{73D2D86C-FB34-C07C-2498-09B67EAB1402}"/>
              </a:ext>
            </a:extLst>
          </p:cNvPr>
          <p:cNvSpPr txBox="1"/>
          <p:nvPr/>
        </p:nvSpPr>
        <p:spPr>
          <a:xfrm>
            <a:off x="6194321" y="2024984"/>
            <a:ext cx="5762625" cy="2956066"/>
          </a:xfrm>
          <a:prstGeom prst="rect">
            <a:avLst/>
          </a:prstGeom>
          <a:noFill/>
        </p:spPr>
        <p:txBody>
          <a:bodyPr wrap="square">
            <a:spAutoFit/>
          </a:bodyPr>
          <a:lstStyle/>
          <a:p>
            <a:pPr algn="just">
              <a:lnSpc>
                <a:spcPct val="150000"/>
              </a:lnSpc>
              <a:buNone/>
            </a:pPr>
            <a:r>
              <a:rPr lang="es-ES" dirty="0"/>
              <a:t>Vista principal del entorno de desarrollo </a:t>
            </a:r>
            <a:r>
              <a:rPr lang="es-ES" dirty="0" err="1"/>
              <a:t>RStudio</a:t>
            </a:r>
            <a:r>
              <a:rPr lang="es-ES" dirty="0"/>
              <a:t> mostrando la consola activa con la versión del lenguaje R y la carga inicial del espacio de trabajo. La interfaz divide el espacio de trabajo en paneles para la ejecución de comandos, historial y gestión de archivos. Este entorno sirve como plataforma base para la estructuración y programación de los modelos estadísticos y de simulación.</a:t>
            </a:r>
            <a:endParaRPr lang="es-MX" dirty="0">
              <a:latin typeface="Calibri (Cuerpo)"/>
            </a:endParaRPr>
          </a:p>
        </p:txBody>
      </p:sp>
      <p:pic>
        <p:nvPicPr>
          <p:cNvPr id="6" name="Imagen 5" descr="C:\Users\yaira\OneDrive\Pictures\Screenshots\Captura de pantalla (69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2191" y="2024984"/>
            <a:ext cx="5612130" cy="3156585"/>
          </a:xfrm>
          <a:prstGeom prst="rect">
            <a:avLst/>
          </a:prstGeom>
          <a:noFill/>
          <a:ln>
            <a:noFill/>
          </a:ln>
        </p:spPr>
      </p:pic>
    </p:spTree>
    <p:extLst>
      <p:ext uri="{BB962C8B-B14F-4D97-AF65-F5344CB8AC3E}">
        <p14:creationId xmlns:p14="http://schemas.microsoft.com/office/powerpoint/2010/main" val="52370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Creación de un Nuevo Script</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956066"/>
          </a:xfrm>
          <a:prstGeom prst="rect">
            <a:avLst/>
          </a:prstGeom>
          <a:noFill/>
        </p:spPr>
        <p:txBody>
          <a:bodyPr wrap="square">
            <a:spAutoFit/>
          </a:bodyPr>
          <a:lstStyle/>
          <a:p>
            <a:pPr algn="just">
              <a:lnSpc>
                <a:spcPct val="150000"/>
              </a:lnSpc>
            </a:pPr>
            <a:r>
              <a:rPr lang="es-ES" dirty="0"/>
              <a:t>Despliegue del menú superior en </a:t>
            </a:r>
            <a:r>
              <a:rPr lang="es-ES" dirty="0" err="1"/>
              <a:t>RStudio</a:t>
            </a:r>
            <a:r>
              <a:rPr lang="es-ES" dirty="0"/>
              <a:t> para la creación de un nuevo archivo de código, mostrando diversas opciones de documentos y lenguajes soportados. Esta herramienta permite iniciar un script limpio para escribir las líneas de código correspondientes a los algoritmos de simulación. El menú facilita el acceso rápido a la estructuración de proyectos dentro del entorno de desarrollo. </a:t>
            </a:r>
            <a:endParaRPr lang="es-MX" dirty="0">
              <a:latin typeface="Calibri (Cuerpo)"/>
            </a:endParaRPr>
          </a:p>
        </p:txBody>
      </p:sp>
      <p:pic>
        <p:nvPicPr>
          <p:cNvPr id="5" name="Imagen 4" descr="C:\Users\yaira\OneDrive\Pictures\Screenshots\Captura de pantalla (69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2154307"/>
            <a:ext cx="5612130" cy="3156585"/>
          </a:xfrm>
          <a:prstGeom prst="rect">
            <a:avLst/>
          </a:prstGeom>
          <a:noFill/>
          <a:ln>
            <a:noFill/>
          </a:ln>
        </p:spPr>
      </p:pic>
    </p:spTree>
    <p:extLst>
      <p:ext uri="{BB962C8B-B14F-4D97-AF65-F5344CB8AC3E}">
        <p14:creationId xmlns:p14="http://schemas.microsoft.com/office/powerpoint/2010/main" val="341972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Cuadro de Diálogo para Guardar el Archivo</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956066"/>
          </a:xfrm>
          <a:prstGeom prst="rect">
            <a:avLst/>
          </a:prstGeom>
          <a:noFill/>
        </p:spPr>
        <p:txBody>
          <a:bodyPr wrap="square">
            <a:spAutoFit/>
          </a:bodyPr>
          <a:lstStyle/>
          <a:p>
            <a:pPr algn="just">
              <a:lnSpc>
                <a:spcPct val="150000"/>
              </a:lnSpc>
            </a:pPr>
            <a:r>
              <a:rPr lang="es-ES" dirty="0"/>
              <a:t>Ventana emergente del sistema para almacenar el código fuente, asignando el nombre de FILA_ESPERA al archivo dentro del directorio de trabajo. Este procedimiento permite organizar correctamente los códigos del proyecto para mantener un control ordenado de cada ejercicio. El almacenamiento asegura la persistencia del script para futuras modificaciones o ejecuciones en la plataforma.</a:t>
            </a:r>
            <a:endParaRPr lang="es-MX" dirty="0">
              <a:latin typeface="Calibri (Cuerpo)"/>
            </a:endParaRPr>
          </a:p>
        </p:txBody>
      </p:sp>
      <p:pic>
        <p:nvPicPr>
          <p:cNvPr id="5" name="Imagen 4" descr="C:\Users\yaira\OneDrive\Pictures\Screenshots\Captura de pantalla (694).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2017855"/>
            <a:ext cx="5612130" cy="3156585"/>
          </a:xfrm>
          <a:prstGeom prst="rect">
            <a:avLst/>
          </a:prstGeom>
          <a:noFill/>
          <a:ln>
            <a:noFill/>
          </a:ln>
        </p:spPr>
      </p:pic>
    </p:spTree>
    <p:extLst>
      <p:ext uri="{BB962C8B-B14F-4D97-AF65-F5344CB8AC3E}">
        <p14:creationId xmlns:p14="http://schemas.microsoft.com/office/powerpoint/2010/main" val="166217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Editor de Código y Carga de Librerías</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540567"/>
          </a:xfrm>
          <a:prstGeom prst="rect">
            <a:avLst/>
          </a:prstGeom>
          <a:noFill/>
        </p:spPr>
        <p:txBody>
          <a:bodyPr wrap="square">
            <a:spAutoFit/>
          </a:bodyPr>
          <a:lstStyle/>
          <a:p>
            <a:pPr algn="just">
              <a:lnSpc>
                <a:spcPct val="150000"/>
              </a:lnSpc>
            </a:pPr>
            <a:r>
              <a:rPr lang="es-ES" dirty="0"/>
              <a:t>Panel de edición de </a:t>
            </a:r>
            <a:r>
              <a:rPr lang="es-ES" dirty="0" err="1"/>
              <a:t>RStudio</a:t>
            </a:r>
            <a:r>
              <a:rPr lang="es-ES" dirty="0"/>
              <a:t> mostrando el código fuente inicial para la simulación de una línea de espera mediante la librería </a:t>
            </a:r>
            <a:r>
              <a:rPr lang="es-ES" dirty="0" err="1"/>
              <a:t>Shiny</a:t>
            </a:r>
            <a:r>
              <a:rPr lang="es-ES" dirty="0"/>
              <a:t>. En la consola inferior se observa la descarga e instalación exitosa de los paquetes necesarios para ejecutar la interfaz web interactiva. Esta sección de comandos define la estructura lógica y visual del programa en R. </a:t>
            </a:r>
            <a:endParaRPr lang="es-MX" dirty="0">
              <a:latin typeface="Calibri (Cuerpo)"/>
            </a:endParaRPr>
          </a:p>
        </p:txBody>
      </p:sp>
      <p:pic>
        <p:nvPicPr>
          <p:cNvPr id="5" name="Imagen 4" descr="C:\Users\yaira\OneDrive\Pictures\Screenshots\Captura de pantalla (69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941" y="1958861"/>
            <a:ext cx="5612130" cy="3156585"/>
          </a:xfrm>
          <a:prstGeom prst="rect">
            <a:avLst/>
          </a:prstGeom>
          <a:noFill/>
          <a:ln>
            <a:noFill/>
          </a:ln>
        </p:spPr>
      </p:pic>
    </p:spTree>
    <p:extLst>
      <p:ext uri="{BB962C8B-B14F-4D97-AF65-F5344CB8AC3E}">
        <p14:creationId xmlns:p14="http://schemas.microsoft.com/office/powerpoint/2010/main" val="3833719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MX" dirty="0">
                <a:solidFill>
                  <a:srgbClr val="FF0000"/>
                </a:solidFill>
              </a:rPr>
              <a:t>Interfaz Gráfica Inicial del Simulador</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956066"/>
          </a:xfrm>
          <a:prstGeom prst="rect">
            <a:avLst/>
          </a:prstGeom>
          <a:noFill/>
        </p:spPr>
        <p:txBody>
          <a:bodyPr wrap="square">
            <a:spAutoFit/>
          </a:bodyPr>
          <a:lstStyle/>
          <a:p>
            <a:pPr algn="just">
              <a:lnSpc>
                <a:spcPct val="150000"/>
              </a:lnSpc>
            </a:pPr>
            <a:r>
              <a:rPr lang="es-ES" dirty="0"/>
              <a:t>Ventana emergente que muestra la aplicación web interactiva recién iniciada para el control de líneas de espera y parámetros de atención. La interfaz presenta campos de entrada para configurar el número de clientes, intervalos de llegada y tiempos de servicio antes de ejecutar el proceso. Este diseño permite al usuario interactuar directamente con las variables del modelo estadístico.</a:t>
            </a:r>
            <a:endParaRPr lang="es-MX" dirty="0">
              <a:latin typeface="Calibri (Cuerpo)"/>
            </a:endParaRPr>
          </a:p>
        </p:txBody>
      </p:sp>
      <p:pic>
        <p:nvPicPr>
          <p:cNvPr id="5" name="Imagen 4" descr="C:\Users\yaira\OneDrive\Pictures\Screenshots\Captura de pantalla (69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1958862"/>
            <a:ext cx="5612130" cy="3156585"/>
          </a:xfrm>
          <a:prstGeom prst="rect">
            <a:avLst/>
          </a:prstGeom>
          <a:noFill/>
          <a:ln>
            <a:noFill/>
          </a:ln>
        </p:spPr>
      </p:pic>
    </p:spTree>
    <p:extLst>
      <p:ext uri="{BB962C8B-B14F-4D97-AF65-F5344CB8AC3E}">
        <p14:creationId xmlns:p14="http://schemas.microsoft.com/office/powerpoint/2010/main" val="1804985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Ejecución y Resultados de la Simulación</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956066"/>
          </a:xfrm>
          <a:prstGeom prst="rect">
            <a:avLst/>
          </a:prstGeom>
          <a:noFill/>
        </p:spPr>
        <p:txBody>
          <a:bodyPr wrap="square">
            <a:spAutoFit/>
          </a:bodyPr>
          <a:lstStyle/>
          <a:p>
            <a:pPr algn="just">
              <a:lnSpc>
                <a:spcPct val="150000"/>
              </a:lnSpc>
            </a:pPr>
            <a:r>
              <a:rPr lang="es-ES" dirty="0"/>
              <a:t>Vista de la aplicación </a:t>
            </a:r>
            <a:r>
              <a:rPr lang="es-ES" dirty="0" err="1"/>
              <a:t>Shiny</a:t>
            </a:r>
            <a:r>
              <a:rPr lang="es-ES" dirty="0"/>
              <a:t> tras presionar el botón de ejecución, mostrando los resultados en tiempo real con indicadores numéricos y gráficos de la fila. La interfaz detalla métricas clave como el tiempo de espera promedio, clientes atendidos y el estado actual del servidor de atención. Esta ventana comprueba de manera visual y funcional el comportamiento dinámico de la simulación programada en R. </a:t>
            </a:r>
            <a:endParaRPr lang="es-MX" dirty="0">
              <a:latin typeface="Calibri (Cuerpo)"/>
            </a:endParaRPr>
          </a:p>
        </p:txBody>
      </p:sp>
      <p:pic>
        <p:nvPicPr>
          <p:cNvPr id="5" name="Imagen 4" descr="C:\Users\yaira\OneDrive\Pictures\Screenshots\Captura de pantalla (698).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2054047"/>
            <a:ext cx="5612130" cy="3156585"/>
          </a:xfrm>
          <a:prstGeom prst="rect">
            <a:avLst/>
          </a:prstGeom>
          <a:noFill/>
          <a:ln>
            <a:noFill/>
          </a:ln>
        </p:spPr>
      </p:pic>
    </p:spTree>
    <p:extLst>
      <p:ext uri="{BB962C8B-B14F-4D97-AF65-F5344CB8AC3E}">
        <p14:creationId xmlns:p14="http://schemas.microsoft.com/office/powerpoint/2010/main" val="1215292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normAutofit fontScale="90000"/>
          </a:bodyPr>
          <a:lstStyle/>
          <a:p>
            <a:pPr algn="ctr"/>
            <a:r>
              <a:rPr lang="es-MX" b="1" dirty="0" smtClean="0">
                <a:solidFill>
                  <a:srgbClr val="FF0000"/>
                </a:solidFill>
              </a:rPr>
              <a:t>PROGRAMA 2 EN RSTUDIO SISTEMA_INVENTARIO</a:t>
            </a:r>
            <a:br>
              <a:rPr lang="es-MX" b="1" dirty="0" smtClean="0">
                <a:solidFill>
                  <a:srgbClr val="FF0000"/>
                </a:solidFill>
              </a:rPr>
            </a:br>
            <a:r>
              <a:rPr lang="es-MX" b="1" dirty="0" smtClean="0">
                <a:solidFill>
                  <a:srgbClr val="FF0000"/>
                </a:solidFill>
              </a:rPr>
              <a:t>PAGINA PRINCIPAL DE RSTUDIO </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540567"/>
          </a:xfrm>
          <a:prstGeom prst="rect">
            <a:avLst/>
          </a:prstGeom>
          <a:noFill/>
        </p:spPr>
        <p:txBody>
          <a:bodyPr wrap="square">
            <a:spAutoFit/>
          </a:bodyPr>
          <a:lstStyle/>
          <a:p>
            <a:pPr algn="just">
              <a:lnSpc>
                <a:spcPct val="150000"/>
              </a:lnSpc>
            </a:pPr>
            <a:r>
              <a:rPr lang="es-ES" dirty="0"/>
              <a:t>Vista inicial del entorno de desarrollo </a:t>
            </a:r>
            <a:r>
              <a:rPr lang="es-ES" dirty="0" err="1"/>
              <a:t>RStudio</a:t>
            </a:r>
            <a:r>
              <a:rPr lang="es-ES" dirty="0"/>
              <a:t> mostrando la consola activa con la versión del lenguaje R lista para recibir comandos. La interfaz divide el espacio de trabajo en paneles para la ejecución de scripts y la gestión de archivos del sistema. Este espacio sirve como plataforma principal para iniciar la programación de los modelos de simulación estadística.</a:t>
            </a:r>
            <a:endParaRPr lang="es-MX" dirty="0">
              <a:latin typeface="Calibri (Cuerpo)"/>
            </a:endParaRPr>
          </a:p>
        </p:txBody>
      </p:sp>
      <p:pic>
        <p:nvPicPr>
          <p:cNvPr id="5" name="Imagen 4" descr="C:\Users\yaira\OneDrive\Pictures\Screenshots\Captura de pantalla (699).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1949030"/>
            <a:ext cx="5612130" cy="3156585"/>
          </a:xfrm>
          <a:prstGeom prst="rect">
            <a:avLst/>
          </a:prstGeom>
          <a:noFill/>
          <a:ln>
            <a:noFill/>
          </a:ln>
        </p:spPr>
      </p:pic>
    </p:spTree>
    <p:extLst>
      <p:ext uri="{BB962C8B-B14F-4D97-AF65-F5344CB8AC3E}">
        <p14:creationId xmlns:p14="http://schemas.microsoft.com/office/powerpoint/2010/main" val="1851871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Menú de Creación de Archivos</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540567"/>
          </a:xfrm>
          <a:prstGeom prst="rect">
            <a:avLst/>
          </a:prstGeom>
          <a:noFill/>
        </p:spPr>
        <p:txBody>
          <a:bodyPr wrap="square">
            <a:spAutoFit/>
          </a:bodyPr>
          <a:lstStyle/>
          <a:p>
            <a:pPr algn="just">
              <a:lnSpc>
                <a:spcPct val="150000"/>
              </a:lnSpc>
            </a:pPr>
            <a:r>
              <a:rPr lang="es-ES" dirty="0"/>
              <a:t>Despliegue del menú superior en </a:t>
            </a:r>
            <a:r>
              <a:rPr lang="es-ES" dirty="0" err="1"/>
              <a:t>RStudio</a:t>
            </a:r>
            <a:r>
              <a:rPr lang="es-ES" dirty="0"/>
              <a:t> para la creación de un nuevo script, mostrando las opciones de documentos y lenguajes soportados por el entorno. Esta herramienta permite abrir un archivo en blanco para redactar el código fuente del sistema de inventarios. El menú facilita el acceso rápido a la estructuración de proyectos dentro de la plataforma.</a:t>
            </a:r>
            <a:endParaRPr lang="es-MX" dirty="0">
              <a:latin typeface="Calibri (Cuerpo)"/>
            </a:endParaRPr>
          </a:p>
        </p:txBody>
      </p:sp>
      <p:pic>
        <p:nvPicPr>
          <p:cNvPr id="5" name="Imagen 4" descr="C:\Users\yaira\OneDrive\Pictures\Screenshots\Captura de pantalla (700).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8" y="1846297"/>
            <a:ext cx="5612130" cy="3156585"/>
          </a:xfrm>
          <a:prstGeom prst="rect">
            <a:avLst/>
          </a:prstGeom>
          <a:noFill/>
          <a:ln>
            <a:noFill/>
          </a:ln>
        </p:spPr>
      </p:pic>
    </p:spTree>
    <p:extLst>
      <p:ext uri="{BB962C8B-B14F-4D97-AF65-F5344CB8AC3E}">
        <p14:creationId xmlns:p14="http://schemas.microsoft.com/office/powerpoint/2010/main" val="173391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 xmlns:a16="http://schemas.microsoft.com/office/drawing/2014/main" id="{4B1E2597-659F-FF9E-64B5-3E8FD87A7A8E}"/>
              </a:ext>
            </a:extLst>
          </p:cNvPr>
          <p:cNvSpPr>
            <a:spLocks noGrp="1"/>
          </p:cNvSpPr>
          <p:nvPr>
            <p:ph type="title"/>
          </p:nvPr>
        </p:nvSpPr>
        <p:spPr>
          <a:xfrm>
            <a:off x="838200" y="365125"/>
            <a:ext cx="10515600" cy="1325563"/>
          </a:xfrm>
        </p:spPr>
        <p:txBody>
          <a:bodyPr/>
          <a:lstStyle/>
          <a:p>
            <a:pPr algn="ctr"/>
            <a:r>
              <a:rPr lang="es-ES" dirty="0">
                <a:solidFill>
                  <a:srgbClr val="FF0000"/>
                </a:solidFill>
              </a:rPr>
              <a:t>Guardado del Script de Inventarios</a:t>
            </a:r>
            <a:endParaRPr lang="es-MX" b="1" dirty="0">
              <a:solidFill>
                <a:srgbClr val="FF0000"/>
              </a:solidFill>
            </a:endParaRPr>
          </a:p>
        </p:txBody>
      </p:sp>
      <p:sp>
        <p:nvSpPr>
          <p:cNvPr id="6" name="CuadroTexto 5">
            <a:extLst>
              <a:ext uri="{FF2B5EF4-FFF2-40B4-BE49-F238E27FC236}">
                <a16:creationId xmlns="" xmlns:a16="http://schemas.microsoft.com/office/drawing/2014/main" id="{4903A066-A477-D7B6-1667-B98EB87311D9}"/>
              </a:ext>
            </a:extLst>
          </p:cNvPr>
          <p:cNvSpPr txBox="1"/>
          <p:nvPr/>
        </p:nvSpPr>
        <p:spPr>
          <a:xfrm>
            <a:off x="5867708" y="2154307"/>
            <a:ext cx="6096000" cy="2956066"/>
          </a:xfrm>
          <a:prstGeom prst="rect">
            <a:avLst/>
          </a:prstGeom>
          <a:noFill/>
        </p:spPr>
        <p:txBody>
          <a:bodyPr wrap="square">
            <a:spAutoFit/>
          </a:bodyPr>
          <a:lstStyle/>
          <a:p>
            <a:pPr algn="just">
              <a:lnSpc>
                <a:spcPct val="150000"/>
              </a:lnSpc>
            </a:pPr>
            <a:r>
              <a:rPr lang="es-ES" dirty="0"/>
              <a:t>Ventana emergente del sistema para almacenar el código fuente, asignando el nombre de SISTEMA_INVENTARIO al archivo dentro del directorio de trabajo. Este procedimiento permite organizar correctamente los códigos del proyecto para mantener un control ordenado de cada ejercicio. El almacenamiento asegura la persistencia del script para futuras modificaciones o ejecuciones en la plataforma.</a:t>
            </a:r>
            <a:endParaRPr lang="es-MX" dirty="0">
              <a:latin typeface="Calibri (Cuerpo)"/>
            </a:endParaRPr>
          </a:p>
        </p:txBody>
      </p:sp>
      <p:pic>
        <p:nvPicPr>
          <p:cNvPr id="5" name="Imagen 4" descr="C:\Users\yaira\OneDrive\Pictures\Screenshots\Captura de pantalla (70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3110" y="1953788"/>
            <a:ext cx="5612130" cy="3156585"/>
          </a:xfrm>
          <a:prstGeom prst="rect">
            <a:avLst/>
          </a:prstGeom>
          <a:noFill/>
          <a:ln>
            <a:noFill/>
          </a:ln>
        </p:spPr>
      </p:pic>
    </p:spTree>
    <p:extLst>
      <p:ext uri="{BB962C8B-B14F-4D97-AF65-F5344CB8AC3E}">
        <p14:creationId xmlns:p14="http://schemas.microsoft.com/office/powerpoint/2010/main" val="1403524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pt-BR" dirty="0">
                <a:solidFill>
                  <a:srgbClr val="FF0000"/>
                </a:solidFill>
              </a:rPr>
              <a:t>Editor de Código para </a:t>
            </a:r>
            <a:r>
              <a:rPr lang="pt-BR" dirty="0" err="1">
                <a:solidFill>
                  <a:srgbClr val="FF0000"/>
                </a:solidFill>
              </a:rPr>
              <a:t>Inventarios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Panel de edición de </a:t>
            </a:r>
            <a:r>
              <a:rPr lang="es-ES" dirty="0" err="1"/>
              <a:t>RStudio</a:t>
            </a:r>
            <a:r>
              <a:rPr lang="es-ES" dirty="0"/>
              <a:t> mostrando la estructura inicial del código en R mediante la librería </a:t>
            </a:r>
            <a:r>
              <a:rPr lang="es-ES" dirty="0" err="1"/>
              <a:t>Shiny</a:t>
            </a:r>
            <a:r>
              <a:rPr lang="es-ES" dirty="0"/>
              <a:t> para el modelado de inventarios. El script incluye la configuración visual y las propiedades de diseño en HTML para la interfaz gráfica del sistema. Esta sección de comandos define la lógica y la presentación visual del programa de simulación. </a:t>
            </a:r>
            <a:endParaRPr lang="es-MX" dirty="0">
              <a:latin typeface="Calibri (Cuerpo)"/>
            </a:endParaRPr>
          </a:p>
        </p:txBody>
      </p:sp>
      <p:pic>
        <p:nvPicPr>
          <p:cNvPr id="4" name="Imagen 3" descr="C:\Users\yaira\OneDrive\Pictures\Screenshots\Captura de pantalla (70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690688"/>
            <a:ext cx="5612130" cy="3156585"/>
          </a:xfrm>
          <a:prstGeom prst="rect">
            <a:avLst/>
          </a:prstGeom>
          <a:noFill/>
          <a:ln>
            <a:noFill/>
          </a:ln>
        </p:spPr>
      </p:pic>
    </p:spTree>
    <p:extLst>
      <p:ext uri="{BB962C8B-B14F-4D97-AF65-F5344CB8AC3E}">
        <p14:creationId xmlns:p14="http://schemas.microsoft.com/office/powerpoint/2010/main" val="2316046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Interfaz Gráfica del Simulador de Inventarios</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345738" y="1828340"/>
            <a:ext cx="5059680" cy="3371564"/>
          </a:xfrm>
          <a:prstGeom prst="rect">
            <a:avLst/>
          </a:prstGeom>
          <a:noFill/>
        </p:spPr>
        <p:txBody>
          <a:bodyPr wrap="square">
            <a:spAutoFit/>
          </a:bodyPr>
          <a:lstStyle/>
          <a:p>
            <a:pPr algn="just">
              <a:lnSpc>
                <a:spcPct val="150000"/>
              </a:lnSpc>
            </a:pPr>
            <a:r>
              <a:rPr lang="es-ES" dirty="0"/>
              <a:t>Ventana de la aplicación web interactiva que muestra el panel de configuración de parámetros del inventario, como días a simular e inventario inicial. La interfaz presenta indicadores numéricos en cero y un menú flotante del sistema operativo para organizar la ventana. Este diseño permite al usuario definir las variables de entrada antes de ejecutar la simulación en R.</a:t>
            </a:r>
            <a:endParaRPr lang="es-MX" dirty="0">
              <a:latin typeface="Calibri (Cuerpo)"/>
            </a:endParaRPr>
          </a:p>
        </p:txBody>
      </p:sp>
      <p:pic>
        <p:nvPicPr>
          <p:cNvPr id="4" name="Imagen 3" descr="C:\Users\yaira\OneDrive\Pictures\Screenshots\Captura de pantalla (70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3608" y="1935829"/>
            <a:ext cx="5612130" cy="3156585"/>
          </a:xfrm>
          <a:prstGeom prst="rect">
            <a:avLst/>
          </a:prstGeom>
          <a:noFill/>
          <a:ln>
            <a:noFill/>
          </a:ln>
        </p:spPr>
      </p:pic>
    </p:spTree>
    <p:extLst>
      <p:ext uri="{BB962C8B-B14F-4D97-AF65-F5344CB8AC3E}">
        <p14:creationId xmlns:p14="http://schemas.microsoft.com/office/powerpoint/2010/main" val="355552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Resultados y Gráfica de Comportamiento</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a:t>Vista de la aplicación web tras ejecutar la simulación, mostrando los resultados numéricos de unidades disponibles y una gráfica de evolución del inventario. La interfaz incluye un aviso de alerta por desabastecimiento y una línea de tendencia que marca el punto de </a:t>
            </a:r>
            <a:r>
              <a:rPr lang="es-ES" dirty="0" err="1"/>
              <a:t>reorden</a:t>
            </a:r>
            <a:r>
              <a:rPr lang="es-ES" dirty="0"/>
              <a:t> en el tiempo. Esta sección comprueba de manera visual el comportamiento dinámico del stock modelado en el programa.</a:t>
            </a:r>
            <a:endParaRPr lang="es-MX" dirty="0">
              <a:latin typeface="Calibri (Cuerpo)"/>
            </a:endParaRPr>
          </a:p>
        </p:txBody>
      </p:sp>
      <p:pic>
        <p:nvPicPr>
          <p:cNvPr id="4" name="Imagen 3" descr="C:\Users\yaira\OneDrive\Pictures\Screenshots\Captura de pantalla (704).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2204668"/>
            <a:ext cx="5612130" cy="3156585"/>
          </a:xfrm>
          <a:prstGeom prst="rect">
            <a:avLst/>
          </a:prstGeom>
          <a:noFill/>
          <a:ln>
            <a:noFill/>
          </a:ln>
        </p:spPr>
      </p:pic>
    </p:spTree>
    <p:extLst>
      <p:ext uri="{BB962C8B-B14F-4D97-AF65-F5344CB8AC3E}">
        <p14:creationId xmlns:p14="http://schemas.microsoft.com/office/powerpoint/2010/main" val="2056522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Panel de Métricas y Estado del Sistema</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Sección inferior de la interfaz que detalla el resumen de la simulación, incluyendo inventario final, demanda total y reabastecimientos realizados. El panel muestra una advertencia de nivel de inventario bajo y los días transcurridos durante la ejecución del proceso. Esta vista final permite analizar el rendimiento y la estabilidad del sistema de inventarios simulado.</a:t>
            </a:r>
            <a:endParaRPr lang="es-MX" dirty="0">
              <a:latin typeface="Calibri (Cuerpo)"/>
            </a:endParaRPr>
          </a:p>
        </p:txBody>
      </p:sp>
      <p:pic>
        <p:nvPicPr>
          <p:cNvPr id="4" name="Imagen 3" descr="C:\Users\yaira\OneDrive\Pictures\Screenshots\Captura de pantalla (705).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929" y="1905667"/>
            <a:ext cx="5612130" cy="3156585"/>
          </a:xfrm>
          <a:prstGeom prst="rect">
            <a:avLst/>
          </a:prstGeom>
          <a:noFill/>
          <a:ln>
            <a:noFill/>
          </a:ln>
        </p:spPr>
      </p:pic>
    </p:spTree>
    <p:extLst>
      <p:ext uri="{BB962C8B-B14F-4D97-AF65-F5344CB8AC3E}">
        <p14:creationId xmlns:p14="http://schemas.microsoft.com/office/powerpoint/2010/main" val="2471660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smtClean="0">
                <a:solidFill>
                  <a:srgbClr val="FF0000"/>
                </a:solidFill>
              </a:rPr>
              <a:t>PROGRAMA 1 EN PYTHON FILA_ESPERA</a:t>
            </a:r>
            <a:br>
              <a:rPr lang="es-MX" dirty="0" smtClean="0">
                <a:solidFill>
                  <a:srgbClr val="FF0000"/>
                </a:solidFill>
              </a:rPr>
            </a:br>
            <a:r>
              <a:rPr lang="es-MX" dirty="0">
                <a:solidFill>
                  <a:srgbClr val="FF0000"/>
                </a:solidFill>
              </a:rPr>
              <a:t>Interfaz del Entorno VS </a:t>
            </a:r>
            <a:r>
              <a:rPr lang="es-MX" dirty="0" err="1">
                <a:solidFill>
                  <a:srgbClr val="FF0000"/>
                </a:solidFill>
              </a:rPr>
              <a:t>Code</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Vista inicial del entorno de desarrollo Visual Studio </a:t>
            </a:r>
            <a:r>
              <a:rPr lang="es-ES" dirty="0" err="1"/>
              <a:t>Code</a:t>
            </a:r>
            <a:r>
              <a:rPr lang="es-ES" dirty="0"/>
              <a:t> mostrando el menú de opciones del sistema para la gestión de archivos y proyectos. La interfaz oscura presenta los accesos directos para abrir carpetas, crear documentos nuevos y configurar el espacio de trabajo. Este editor sirve como plataforma principal para la redacción de los códigos en Python. </a:t>
            </a:r>
            <a:endParaRPr lang="es-MX" dirty="0">
              <a:latin typeface="Calibri (Cuerpo)"/>
            </a:endParaRPr>
          </a:p>
        </p:txBody>
      </p:sp>
      <p:pic>
        <p:nvPicPr>
          <p:cNvPr id="4" name="Imagen 3" descr="C:\Users\yaira\OneDrive\Pictures\Screenshots\Captura de pantalla (70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2067017"/>
            <a:ext cx="5612130" cy="3156585"/>
          </a:xfrm>
          <a:prstGeom prst="rect">
            <a:avLst/>
          </a:prstGeom>
          <a:noFill/>
          <a:ln>
            <a:noFill/>
          </a:ln>
        </p:spPr>
      </p:pic>
    </p:spTree>
    <p:extLst>
      <p:ext uri="{BB962C8B-B14F-4D97-AF65-F5344CB8AC3E}">
        <p14:creationId xmlns:p14="http://schemas.microsoft.com/office/powerpoint/2010/main" val="1482737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Menú de Creación de Archivos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a:t>Despliegue del menú de selección de archivos en Visual Studio </a:t>
            </a:r>
            <a:r>
              <a:rPr lang="es-ES" dirty="0" err="1"/>
              <a:t>Code</a:t>
            </a:r>
            <a:r>
              <a:rPr lang="es-ES" dirty="0"/>
              <a:t>, indicando las opciones disponibles para crear un documento de texto, un archivo de Python o un cuaderno </a:t>
            </a:r>
            <a:r>
              <a:rPr lang="es-ES" dirty="0" err="1"/>
              <a:t>Jupyter</a:t>
            </a:r>
            <a:r>
              <a:rPr lang="es-ES" dirty="0"/>
              <a:t>. Esta herramienta permite iniciar un script limpio para escribir los algoritmos de simulación correspondientes al lenguaje Python. El menú facilita el acceso rápido a la configuración inicial del documento de trabajo.</a:t>
            </a:r>
            <a:endParaRPr lang="es-MX" dirty="0">
              <a:latin typeface="Calibri (Cuerpo)"/>
            </a:endParaRPr>
          </a:p>
        </p:txBody>
      </p:sp>
      <p:pic>
        <p:nvPicPr>
          <p:cNvPr id="4" name="Imagen 3" descr="C:\Users\yaira\OneDrive\Pictures\Screenshots\Captura de pantalla (70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2005926"/>
            <a:ext cx="5612130" cy="3156585"/>
          </a:xfrm>
          <a:prstGeom prst="rect">
            <a:avLst/>
          </a:prstGeom>
          <a:noFill/>
          <a:ln>
            <a:noFill/>
          </a:ln>
        </p:spPr>
      </p:pic>
    </p:spTree>
    <p:extLst>
      <p:ext uri="{BB962C8B-B14F-4D97-AF65-F5344CB8AC3E}">
        <p14:creationId xmlns:p14="http://schemas.microsoft.com/office/powerpoint/2010/main" val="1250865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Cuadro de Diálogo para Guardar el Script</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Ventana emergente del sistema para almacenar el código fuente, asignando el nombre de FILA_ESPERA al archivo dentro del directorio de Python. Este procedimiento permite organizar de manera ordenada los códigos del proyecto para mantener el control de cada práctica realizada. El almacenamiento asegura la persistencia del archivo para futuras ejecuciones en el entorno.</a:t>
            </a:r>
            <a:endParaRPr lang="es-MX" dirty="0">
              <a:latin typeface="Calibri (Cuerpo)"/>
            </a:endParaRPr>
          </a:p>
        </p:txBody>
      </p:sp>
      <p:pic>
        <p:nvPicPr>
          <p:cNvPr id="4" name="Imagen 3" descr="C:\Users\yaira\OneDrive\Pictures\Screenshots\Captura de pantalla (708).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798177"/>
            <a:ext cx="5612130" cy="3156585"/>
          </a:xfrm>
          <a:prstGeom prst="rect">
            <a:avLst/>
          </a:prstGeom>
          <a:noFill/>
          <a:ln>
            <a:noFill/>
          </a:ln>
        </p:spPr>
      </p:pic>
    </p:spTree>
    <p:extLst>
      <p:ext uri="{BB962C8B-B14F-4D97-AF65-F5344CB8AC3E}">
        <p14:creationId xmlns:p14="http://schemas.microsoft.com/office/powerpoint/2010/main" val="3862267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Editor de Código para Líneas de Espera</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Panel de código de Visual Studio </a:t>
            </a:r>
            <a:r>
              <a:rPr lang="es-ES" dirty="0" err="1"/>
              <a:t>Code</a:t>
            </a:r>
            <a:r>
              <a:rPr lang="es-ES" dirty="0"/>
              <a:t> mostrando la importación de librerías como </a:t>
            </a:r>
            <a:r>
              <a:rPr lang="es-ES" dirty="0" err="1"/>
              <a:t>tkinter</a:t>
            </a:r>
            <a:r>
              <a:rPr lang="es-ES" dirty="0"/>
              <a:t>, </a:t>
            </a:r>
            <a:r>
              <a:rPr lang="es-ES" dirty="0" err="1"/>
              <a:t>random</a:t>
            </a:r>
            <a:r>
              <a:rPr lang="es-ES" dirty="0"/>
              <a:t> y </a:t>
            </a:r>
            <a:r>
              <a:rPr lang="es-ES" dirty="0" err="1"/>
              <a:t>matplotlib</a:t>
            </a:r>
            <a:r>
              <a:rPr lang="es-ES" dirty="0"/>
              <a:t> para el desarrollo de la simulación. El script define la clase principal </a:t>
            </a:r>
            <a:r>
              <a:rPr lang="es-ES" dirty="0" err="1"/>
              <a:t>FilaEspera</a:t>
            </a:r>
            <a:r>
              <a:rPr lang="es-ES" dirty="0"/>
              <a:t> y configura los elementos gráficos básicos de la ventana y sus dimensiones. Esta sección establece la lógica estructural del programa en Python.</a:t>
            </a:r>
            <a:endParaRPr lang="es-MX" dirty="0">
              <a:latin typeface="Calibri (Cuerpo)"/>
            </a:endParaRPr>
          </a:p>
        </p:txBody>
      </p:sp>
      <p:pic>
        <p:nvPicPr>
          <p:cNvPr id="4" name="Imagen 3" descr="C:\Users\yaira\OneDrive\Pictures\Screenshots\Captura de pantalla (709).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9754" y="1781881"/>
            <a:ext cx="5612130" cy="3156585"/>
          </a:xfrm>
          <a:prstGeom prst="rect">
            <a:avLst/>
          </a:prstGeom>
          <a:noFill/>
          <a:ln>
            <a:noFill/>
          </a:ln>
        </p:spPr>
      </p:pic>
    </p:spTree>
    <p:extLst>
      <p:ext uri="{BB962C8B-B14F-4D97-AF65-F5344CB8AC3E}">
        <p14:creationId xmlns:p14="http://schemas.microsoft.com/office/powerpoint/2010/main" val="3058527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Configuración del Panel Gráfico</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Continuación del código fuente en el editor, mostrando la implementación de funciones dedicadas a la creación del panel izquierdo de parámetros. El script detalla el uso de contenedores, etiquetas de texto y estilos visuales para organizar los campos de entrada del usuario. Estos comandos permiten estructurar la interfaz interactiva del programa de simulación.</a:t>
            </a:r>
            <a:endParaRPr lang="es-MX" dirty="0">
              <a:latin typeface="Calibri (Cuerpo)"/>
            </a:endParaRPr>
          </a:p>
        </p:txBody>
      </p:sp>
      <p:pic>
        <p:nvPicPr>
          <p:cNvPr id="4" name="Imagen 3" descr="C:\Users\yaira\OneDrive\Pictures\Screenshots\Captura de pantalla (710).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905667"/>
            <a:ext cx="5612130" cy="3156585"/>
          </a:xfrm>
          <a:prstGeom prst="rect">
            <a:avLst/>
          </a:prstGeom>
          <a:noFill/>
          <a:ln>
            <a:noFill/>
          </a:ln>
        </p:spPr>
      </p:pic>
    </p:spTree>
    <p:extLst>
      <p:ext uri="{BB962C8B-B14F-4D97-AF65-F5344CB8AC3E}">
        <p14:creationId xmlns:p14="http://schemas.microsoft.com/office/powerpoint/2010/main" val="1395384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smtClean="0">
                <a:solidFill>
                  <a:srgbClr val="FF0000"/>
                </a:solidFill>
              </a:rPr>
              <a:t>Interfaz </a:t>
            </a:r>
            <a:r>
              <a:rPr lang="es-MX" dirty="0">
                <a:solidFill>
                  <a:srgbClr val="FF0000"/>
                </a:solidFill>
              </a:rPr>
              <a:t>Gráfica Inicial del Simulador</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Ventana emergente de la aplicación que muestra el panel de parámetros con campos para el número de clientes, llegada promedio y servicio promedio. La interfaz presenta los indicadores numéricos en cero y un estado de espera listo para ejecutar la simulación en Python. Este diseño permite al usuario interactuar directamente con las variables del modelo antes de procesar los datos.</a:t>
            </a:r>
            <a:endParaRPr lang="es-MX" dirty="0">
              <a:latin typeface="Calibri (Cuerpo)"/>
            </a:endParaRPr>
          </a:p>
        </p:txBody>
      </p:sp>
      <p:pic>
        <p:nvPicPr>
          <p:cNvPr id="4" name="Imagen 3" descr="C:\Users\yaira\OneDrive\Pictures\Screenshots\Captura de pantalla (71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798177"/>
            <a:ext cx="5612130" cy="3156585"/>
          </a:xfrm>
          <a:prstGeom prst="rect">
            <a:avLst/>
          </a:prstGeom>
          <a:noFill/>
          <a:ln>
            <a:noFill/>
          </a:ln>
        </p:spPr>
      </p:pic>
    </p:spTree>
    <p:extLst>
      <p:ext uri="{BB962C8B-B14F-4D97-AF65-F5344CB8AC3E}">
        <p14:creationId xmlns:p14="http://schemas.microsoft.com/office/powerpoint/2010/main" val="512440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Resultados y Gráfica de Comportamiento</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a:t>Vista de la aplicación tras presionar el botón de ejecución, mostrando los resultados en tiempo real con métricas de clientes atendidos, espera promedio y utilización. La interfaz incluye una representación gráfica de la línea de espera y el comportamiento de los clientes en el sistema a lo largo del tiempo. Esta ventana comprueba de manera visual el funcionamiento correcto del programa implementado en Python.</a:t>
            </a:r>
            <a:endParaRPr lang="es-MX" dirty="0">
              <a:latin typeface="Calibri (Cuerpo)"/>
            </a:endParaRPr>
          </a:p>
        </p:txBody>
      </p:sp>
      <p:pic>
        <p:nvPicPr>
          <p:cNvPr id="4" name="Imagen 3" descr="C:\Users\yaira\OneDrive\Pictures\Screenshots\Captura de pantalla (71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9922" y="1905667"/>
            <a:ext cx="5612130" cy="3156585"/>
          </a:xfrm>
          <a:prstGeom prst="rect">
            <a:avLst/>
          </a:prstGeom>
          <a:noFill/>
          <a:ln>
            <a:noFill/>
          </a:ln>
        </p:spPr>
      </p:pic>
    </p:spTree>
    <p:extLst>
      <p:ext uri="{BB962C8B-B14F-4D97-AF65-F5344CB8AC3E}">
        <p14:creationId xmlns:p14="http://schemas.microsoft.com/office/powerpoint/2010/main" val="3393698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normAutofit fontScale="90000"/>
          </a:bodyPr>
          <a:lstStyle/>
          <a:p>
            <a:pPr algn="ctr"/>
            <a:r>
              <a:rPr lang="es-MX" sz="4000" dirty="0" smtClean="0">
                <a:solidFill>
                  <a:srgbClr val="FF0000"/>
                </a:solidFill>
              </a:rPr>
              <a:t>PROGRAMA 2 EN PYTHON SIMULACION_INVENTARIO</a:t>
            </a:r>
            <a:r>
              <a:rPr lang="es-MX" dirty="0" smtClean="0">
                <a:solidFill>
                  <a:srgbClr val="FF0000"/>
                </a:solidFill>
              </a:rPr>
              <a:t/>
            </a:r>
            <a:br>
              <a:rPr lang="es-MX" dirty="0" smtClean="0">
                <a:solidFill>
                  <a:srgbClr val="FF0000"/>
                </a:solidFill>
              </a:rPr>
            </a:br>
            <a:r>
              <a:rPr lang="es-MX" dirty="0">
                <a:solidFill>
                  <a:srgbClr val="FF0000"/>
                </a:solidFill>
              </a:rPr>
              <a:t>Pantalla de Bienvenida en VS </a:t>
            </a:r>
            <a:r>
              <a:rPr lang="es-MX" dirty="0" err="1">
                <a:solidFill>
                  <a:srgbClr val="FF0000"/>
                </a:solidFill>
              </a:rPr>
              <a:t>Code</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45942" y="1905667"/>
            <a:ext cx="5059680" cy="2956066"/>
          </a:xfrm>
          <a:prstGeom prst="rect">
            <a:avLst/>
          </a:prstGeom>
          <a:noFill/>
        </p:spPr>
        <p:txBody>
          <a:bodyPr wrap="square">
            <a:spAutoFit/>
          </a:bodyPr>
          <a:lstStyle/>
          <a:p>
            <a:pPr algn="just">
              <a:lnSpc>
                <a:spcPct val="150000"/>
              </a:lnSpc>
            </a:pPr>
            <a:r>
              <a:rPr lang="es-ES" dirty="0"/>
              <a:t>Vista inicial del entorno de desarrollo Visual Studio </a:t>
            </a:r>
            <a:r>
              <a:rPr lang="es-ES" dirty="0" err="1"/>
              <a:t>Code</a:t>
            </a:r>
            <a:r>
              <a:rPr lang="es-ES" dirty="0"/>
              <a:t> mostrando la pantalla de bienvenida y los accesos directos para la gestión de proyectos. La interfaz oscura facilita la navegación y la apertura rápida de directorios de trabajo. Este panel sirve como punto de partida para configurar el espacio dedicado al desarrollo de scripts en Python. </a:t>
            </a:r>
            <a:endParaRPr lang="es-MX" dirty="0">
              <a:latin typeface="Calibri (Cuerpo)"/>
            </a:endParaRPr>
          </a:p>
        </p:txBody>
      </p:sp>
      <p:pic>
        <p:nvPicPr>
          <p:cNvPr id="4" name="Imagen 3" descr="C:\Users\yaira\OneDrive\Pictures\Screenshots\Captura de pantalla (71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905667"/>
            <a:ext cx="5612130" cy="3156585"/>
          </a:xfrm>
          <a:prstGeom prst="rect">
            <a:avLst/>
          </a:prstGeom>
          <a:noFill/>
          <a:ln>
            <a:noFill/>
          </a:ln>
        </p:spPr>
      </p:pic>
    </p:spTree>
    <p:extLst>
      <p:ext uri="{BB962C8B-B14F-4D97-AF65-F5344CB8AC3E}">
        <p14:creationId xmlns:p14="http://schemas.microsoft.com/office/powerpoint/2010/main" val="31587916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Selección de Archivo Nuevo</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Despliegue del menú superior en Visual Studio </a:t>
            </a:r>
            <a:r>
              <a:rPr lang="es-ES" dirty="0" err="1"/>
              <a:t>Code</a:t>
            </a:r>
            <a:r>
              <a:rPr lang="es-ES" dirty="0"/>
              <a:t> para la creación de un nuevo documento, mostrando alternativas como archivo de texto, script de Python o cuaderno </a:t>
            </a:r>
            <a:r>
              <a:rPr lang="es-ES" dirty="0" err="1"/>
              <a:t>Jupyter</a:t>
            </a:r>
            <a:r>
              <a:rPr lang="es-ES" dirty="0"/>
              <a:t>. Esta herramienta permite iniciar un archivo en blanco optimizado para la escritura del código fuente. El menú agiliza la configuración inicial del entorno de programación. </a:t>
            </a:r>
            <a:endParaRPr lang="es-MX" dirty="0">
              <a:latin typeface="Calibri (Cuerpo)"/>
            </a:endParaRPr>
          </a:p>
        </p:txBody>
      </p:sp>
      <p:pic>
        <p:nvPicPr>
          <p:cNvPr id="4" name="Imagen 3" descr="C:\Users\yaira\OneDrive\Pictures\Screenshots\Captura de pantalla (714).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905667"/>
            <a:ext cx="5612130" cy="3156585"/>
          </a:xfrm>
          <a:prstGeom prst="rect">
            <a:avLst/>
          </a:prstGeom>
          <a:noFill/>
          <a:ln>
            <a:noFill/>
          </a:ln>
        </p:spPr>
      </p:pic>
    </p:spTree>
    <p:extLst>
      <p:ext uri="{BB962C8B-B14F-4D97-AF65-F5344CB8AC3E}">
        <p14:creationId xmlns:p14="http://schemas.microsoft.com/office/powerpoint/2010/main" val="3653070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Guardado del Script de Inventario</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Ventana emergente del sistema para almacenar el código en desarrollo, asignando el nombre de SIMULACION_INVENTARIO al archivo dentro de la carpeta correspondiente. Este procedimiento permite mantener una organización estricta de las prácticas y códigos del proyecto. El almacenamiento asegura la persistencia del archivo para futuras modificaciones o ejecuciones.</a:t>
            </a:r>
            <a:endParaRPr lang="es-MX" dirty="0">
              <a:latin typeface="Calibri (Cuerpo)"/>
            </a:endParaRPr>
          </a:p>
        </p:txBody>
      </p:sp>
      <p:pic>
        <p:nvPicPr>
          <p:cNvPr id="5" name="Imagen 4" descr="C:\Users\yaira\OneDrive\Pictures\Screenshots\Captura de pantalla (715).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748" y="1905667"/>
            <a:ext cx="5612130" cy="3156585"/>
          </a:xfrm>
          <a:prstGeom prst="rect">
            <a:avLst/>
          </a:prstGeom>
          <a:noFill/>
          <a:ln>
            <a:noFill/>
          </a:ln>
        </p:spPr>
      </p:pic>
    </p:spTree>
    <p:extLst>
      <p:ext uri="{BB962C8B-B14F-4D97-AF65-F5344CB8AC3E}">
        <p14:creationId xmlns:p14="http://schemas.microsoft.com/office/powerpoint/2010/main" val="3278465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Editor de Código y Librerías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Panel de código en Visual Studio </a:t>
            </a:r>
            <a:r>
              <a:rPr lang="es-ES" dirty="0" err="1"/>
              <a:t>Code</a:t>
            </a:r>
            <a:r>
              <a:rPr lang="es-ES" dirty="0"/>
              <a:t> mostrando la importación de librerías esenciales como </a:t>
            </a:r>
            <a:r>
              <a:rPr lang="es-ES" dirty="0" err="1"/>
              <a:t>tkinter</a:t>
            </a:r>
            <a:r>
              <a:rPr lang="es-ES" dirty="0"/>
              <a:t>, </a:t>
            </a:r>
            <a:r>
              <a:rPr lang="es-ES" dirty="0" err="1"/>
              <a:t>random</a:t>
            </a:r>
            <a:r>
              <a:rPr lang="es-ES" dirty="0"/>
              <a:t> y </a:t>
            </a:r>
            <a:r>
              <a:rPr lang="es-ES" dirty="0" err="1"/>
              <a:t>matplotlib</a:t>
            </a:r>
            <a:r>
              <a:rPr lang="es-ES" dirty="0"/>
              <a:t> para el modelado matemático. El script define la clase principal </a:t>
            </a:r>
            <a:r>
              <a:rPr lang="es-ES" dirty="0" err="1"/>
              <a:t>SimulacionInventario</a:t>
            </a:r>
            <a:r>
              <a:rPr lang="es-ES" dirty="0"/>
              <a:t> y establece las dimensiones y el título de la ventana gráfica. Esta sección estructura la lógica fundamental del programa de inventarios en </a:t>
            </a:r>
            <a:r>
              <a:rPr lang="es-ES" dirty="0" smtClean="0"/>
              <a:t>Python.</a:t>
            </a:r>
            <a:endParaRPr lang="es-MX" dirty="0">
              <a:latin typeface="Calibri (Cuerpo)"/>
            </a:endParaRPr>
          </a:p>
        </p:txBody>
      </p:sp>
      <p:pic>
        <p:nvPicPr>
          <p:cNvPr id="4" name="Imagen 3" descr="C:\Users\yaira\OneDrive\Pictures\Screenshots\Captura de pantalla (71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476" y="1798177"/>
            <a:ext cx="5612130" cy="3156585"/>
          </a:xfrm>
          <a:prstGeom prst="rect">
            <a:avLst/>
          </a:prstGeom>
          <a:noFill/>
          <a:ln>
            <a:noFill/>
          </a:ln>
        </p:spPr>
      </p:pic>
    </p:spTree>
    <p:extLst>
      <p:ext uri="{BB962C8B-B14F-4D97-AF65-F5344CB8AC3E}">
        <p14:creationId xmlns:p14="http://schemas.microsoft.com/office/powerpoint/2010/main" val="2348684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Configuración del Panel de Parámetros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Vista del código fuente en el editor que muestra la implementación de las funciones encargadas de construir el panel lateral de parámetros. El script detalla el uso de contenedores y etiquetas personalizadas para organizar los campos de entrada del usuario. Estos comandos permiten dar forma a la interfaz gráfica interactiva de la simulación. </a:t>
            </a:r>
            <a:endParaRPr lang="es-MX" dirty="0">
              <a:latin typeface="Calibri (Cuerpo)"/>
            </a:endParaRPr>
          </a:p>
        </p:txBody>
      </p:sp>
      <p:pic>
        <p:nvPicPr>
          <p:cNvPr id="4" name="Imagen 3" descr="C:\Users\yaira\OneDrive\Pictures\Screenshots\Captura de pantalla (71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1905667"/>
            <a:ext cx="5612130" cy="3156585"/>
          </a:xfrm>
          <a:prstGeom prst="rect">
            <a:avLst/>
          </a:prstGeom>
          <a:noFill/>
          <a:ln>
            <a:noFill/>
          </a:ln>
        </p:spPr>
      </p:pic>
    </p:spTree>
    <p:extLst>
      <p:ext uri="{BB962C8B-B14F-4D97-AF65-F5344CB8AC3E}">
        <p14:creationId xmlns:p14="http://schemas.microsoft.com/office/powerpoint/2010/main" val="11376019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Interfaz Gráfica Inicial del Simulador</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Ventana emergente de la aplicación mostrando el panel de control con los parámetros de entrada y los indicadores numéricos iniciales en cero. La interfaz presenta un diseño limpio con campos ajustables para la demanda promedio, inventario inicial y días de simulación. Este entorno visual permite al usuario configurar los valores antes de iniciar el procesamiento de los datos. </a:t>
            </a:r>
            <a:endParaRPr lang="es-MX" dirty="0">
              <a:latin typeface="Calibri (Cuerpo)"/>
            </a:endParaRPr>
          </a:p>
        </p:txBody>
      </p:sp>
      <p:pic>
        <p:nvPicPr>
          <p:cNvPr id="4" name="Imagen 3" descr="C:\Users\yaira\OneDrive\Pictures\Screenshots\Captura de pantalla (718).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690688"/>
            <a:ext cx="5612130" cy="3156585"/>
          </a:xfrm>
          <a:prstGeom prst="rect">
            <a:avLst/>
          </a:prstGeom>
          <a:noFill/>
          <a:ln>
            <a:noFill/>
          </a:ln>
        </p:spPr>
      </p:pic>
    </p:spTree>
    <p:extLst>
      <p:ext uri="{BB962C8B-B14F-4D97-AF65-F5344CB8AC3E}">
        <p14:creationId xmlns:p14="http://schemas.microsoft.com/office/powerpoint/2010/main" val="995149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Resultados y Comportamiento del Inventario</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Vista de la aplicación tras ejecutar la simulación, mostrando las métricas finales de inventario, demanda total y una gráfica de la evolución del stock. La interfaz incluye un reporte visual con el estado actual de las unidades y la línea de tendencia de la demanda diaria. Esta ventana comprueba de manera exitosa el funcionamiento operativo del modelo de inventarios programado en Python.</a:t>
            </a:r>
            <a:endParaRPr lang="es-MX" dirty="0">
              <a:latin typeface="Calibri (Cuerpo)"/>
            </a:endParaRPr>
          </a:p>
        </p:txBody>
      </p:sp>
      <p:pic>
        <p:nvPicPr>
          <p:cNvPr id="4" name="Imagen 3" descr="C:\Users\yaira\OneDrive\Pictures\Screenshots\Captura de pantalla (719).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905667"/>
            <a:ext cx="5612130" cy="3156585"/>
          </a:xfrm>
          <a:prstGeom prst="rect">
            <a:avLst/>
          </a:prstGeom>
          <a:noFill/>
          <a:ln>
            <a:noFill/>
          </a:ln>
        </p:spPr>
      </p:pic>
    </p:spTree>
    <p:extLst>
      <p:ext uri="{BB962C8B-B14F-4D97-AF65-F5344CB8AC3E}">
        <p14:creationId xmlns:p14="http://schemas.microsoft.com/office/powerpoint/2010/main" val="3062206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normAutofit/>
          </a:bodyPr>
          <a:lstStyle/>
          <a:p>
            <a:pPr algn="ctr"/>
            <a:r>
              <a:rPr lang="es-MX" sz="4000" dirty="0" smtClean="0">
                <a:solidFill>
                  <a:srgbClr val="FF0000"/>
                </a:solidFill>
              </a:rPr>
              <a:t>PROGRAMA 1 EN JAVA INTELLI J IDEA FILA_ESPERA</a:t>
            </a:r>
            <a:br>
              <a:rPr lang="es-MX" sz="4000" dirty="0" smtClean="0">
                <a:solidFill>
                  <a:srgbClr val="FF0000"/>
                </a:solidFill>
              </a:rPr>
            </a:br>
            <a:r>
              <a:rPr lang="es-MX" sz="4000" dirty="0">
                <a:solidFill>
                  <a:srgbClr val="FF0000"/>
                </a:solidFill>
              </a:rPr>
              <a:t>Entorno de </a:t>
            </a:r>
            <a:r>
              <a:rPr lang="es-MX" sz="4000" dirty="0" err="1">
                <a:solidFill>
                  <a:srgbClr val="FF0000"/>
                </a:solidFill>
              </a:rPr>
              <a:t>IntelliJ</a:t>
            </a:r>
            <a:r>
              <a:rPr lang="es-MX" sz="4000" dirty="0">
                <a:solidFill>
                  <a:srgbClr val="FF0000"/>
                </a:solidFill>
              </a:rPr>
              <a:t> IDEA</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Vista principal de la interfaz de desarrollo </a:t>
            </a:r>
            <a:r>
              <a:rPr lang="es-ES" dirty="0" err="1"/>
              <a:t>IntelliJ</a:t>
            </a:r>
            <a:r>
              <a:rPr lang="es-ES" dirty="0"/>
              <a:t> IDEA con el entorno oscuro inicializado y el área de trabajo lista para la gestión de proyectos en Java. El panel superior muestra las opciones de configuración y compilación del entorno. Este espacio sirve como base para organizar la estructura modular del sistema de simulación.</a:t>
            </a:r>
            <a:endParaRPr lang="es-MX" dirty="0">
              <a:latin typeface="Calibri (Cuerpo)"/>
            </a:endParaRPr>
          </a:p>
        </p:txBody>
      </p:sp>
      <p:pic>
        <p:nvPicPr>
          <p:cNvPr id="4" name="Imagen 3" descr="C:\Users\yaira\OneDrive\Pictures\Screenshots\Captura de pantalla (720).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251" y="1690688"/>
            <a:ext cx="5612130" cy="3156585"/>
          </a:xfrm>
          <a:prstGeom prst="rect">
            <a:avLst/>
          </a:prstGeom>
          <a:noFill/>
          <a:ln>
            <a:noFill/>
          </a:ln>
        </p:spPr>
      </p:pic>
    </p:spTree>
    <p:extLst>
      <p:ext uri="{BB962C8B-B14F-4D97-AF65-F5344CB8AC3E}">
        <p14:creationId xmlns:p14="http://schemas.microsoft.com/office/powerpoint/2010/main" val="35937795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Creación de Nueva Clase o Archivo</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Despliegue del menú de opciones en </a:t>
            </a:r>
            <a:r>
              <a:rPr lang="es-ES" dirty="0" err="1"/>
              <a:t>IntelliJ</a:t>
            </a:r>
            <a:r>
              <a:rPr lang="es-ES" dirty="0"/>
              <a:t> IDEA para la creación de un nuevo componente, permitiendo seleccionar alternativas como clases de Java u otros elementos estructurados del proyecto. Esta función agiliza la integración de nuevos scripts dentro del directorio de trabajo. El menú facilita el acceso rápido a las herramientas de desarrollo del IDE. </a:t>
            </a:r>
            <a:endParaRPr lang="es-MX" dirty="0">
              <a:latin typeface="Calibri (Cuerpo)"/>
            </a:endParaRPr>
          </a:p>
        </p:txBody>
      </p:sp>
      <p:pic>
        <p:nvPicPr>
          <p:cNvPr id="4" name="Imagen 3" descr="C:\Users\yaira\OneDrive\Pictures\Screenshots\Captura de pantalla (72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1905667"/>
            <a:ext cx="5612130" cy="3156585"/>
          </a:xfrm>
          <a:prstGeom prst="rect">
            <a:avLst/>
          </a:prstGeom>
          <a:noFill/>
          <a:ln>
            <a:noFill/>
          </a:ln>
        </p:spPr>
      </p:pic>
    </p:spTree>
    <p:extLst>
      <p:ext uri="{BB962C8B-B14F-4D97-AF65-F5344CB8AC3E}">
        <p14:creationId xmlns:p14="http://schemas.microsoft.com/office/powerpoint/2010/main" val="3158457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Configuración de Nuevo Proyecto</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smtClean="0"/>
              <a:t>Ventana </a:t>
            </a:r>
            <a:r>
              <a:rPr lang="es-ES" dirty="0"/>
              <a:t>de configuración para un nuevo proyecto denominado FILA_ESPERA, detallando la ruta de almacenamiento, el sistema de compilación basado en </a:t>
            </a:r>
            <a:r>
              <a:rPr lang="es-ES" dirty="0" err="1"/>
              <a:t>Maven</a:t>
            </a:r>
            <a:r>
              <a:rPr lang="es-ES" dirty="0"/>
              <a:t> y la versión del JDK seleccionada (openjdk-26). Esta pantalla permite definir los parámetros iniciales de arquitectura y dependencias para aplicaciones en Java. La interfaz asegura una correcta estructuración del espacio de trabajo desde su origen.</a:t>
            </a:r>
            <a:endParaRPr lang="es-MX" dirty="0">
              <a:latin typeface="Calibri (Cuerpo)"/>
            </a:endParaRPr>
          </a:p>
        </p:txBody>
      </p:sp>
      <p:pic>
        <p:nvPicPr>
          <p:cNvPr id="4" name="Imagen 3" descr="C:\Users\yaira\OneDrive\Pictures\Screenshots\Captura de pantalla (72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929365"/>
            <a:ext cx="5612130" cy="3156585"/>
          </a:xfrm>
          <a:prstGeom prst="rect">
            <a:avLst/>
          </a:prstGeom>
          <a:noFill/>
          <a:ln>
            <a:noFill/>
          </a:ln>
        </p:spPr>
      </p:pic>
    </p:spTree>
    <p:extLst>
      <p:ext uri="{BB962C8B-B14F-4D97-AF65-F5344CB8AC3E}">
        <p14:creationId xmlns:p14="http://schemas.microsoft.com/office/powerpoint/2010/main" val="314219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Configuración de Librerías Adicionales</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Panel de selección de librerías complementarias en </a:t>
            </a:r>
            <a:r>
              <a:rPr lang="es-ES" dirty="0" err="1"/>
              <a:t>IntelliJ</a:t>
            </a:r>
            <a:r>
              <a:rPr lang="es-ES" dirty="0"/>
              <a:t> IDEA para proyectos avanzados, mostrando opciones como </a:t>
            </a:r>
            <a:r>
              <a:rPr lang="es-ES" dirty="0" err="1"/>
              <a:t>BootstrapFX</a:t>
            </a:r>
            <a:r>
              <a:rPr lang="es-ES" dirty="0"/>
              <a:t> y controles visuales adicionales. Este asistente permite integrar paquetes de estilo y dependencias opcionales al ecosistema del proyecto. La ventana ayuda a preparar los complementos gráficos que la aplicación pueda requerir.</a:t>
            </a:r>
            <a:endParaRPr lang="es-MX" dirty="0">
              <a:latin typeface="Calibri (Cuerpo)"/>
            </a:endParaRPr>
          </a:p>
        </p:txBody>
      </p:sp>
      <p:pic>
        <p:nvPicPr>
          <p:cNvPr id="4" name="Imagen 3" descr="C:\Users\yaira\OneDrive\Pictures\Screenshots\Captura de pantalla (72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1978527"/>
            <a:ext cx="5612130" cy="3156585"/>
          </a:xfrm>
          <a:prstGeom prst="rect">
            <a:avLst/>
          </a:prstGeom>
          <a:noFill/>
          <a:ln>
            <a:noFill/>
          </a:ln>
        </p:spPr>
      </p:pic>
    </p:spTree>
    <p:extLst>
      <p:ext uri="{BB962C8B-B14F-4D97-AF65-F5344CB8AC3E}">
        <p14:creationId xmlns:p14="http://schemas.microsoft.com/office/powerpoint/2010/main" val="3925517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Estructura del Archivo POM de </a:t>
            </a:r>
            <a:r>
              <a:rPr lang="es-ES" dirty="0" err="1">
                <a:solidFill>
                  <a:srgbClr val="FF0000"/>
                </a:solidFill>
              </a:rPr>
              <a:t>Maven</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Vista del editor de código mostrando el archivo de configuración pom.xml, donde se administran las dependencias, </a:t>
            </a:r>
            <a:r>
              <a:rPr lang="es-ES" dirty="0" err="1"/>
              <a:t>plugins</a:t>
            </a:r>
            <a:r>
              <a:rPr lang="es-ES" dirty="0"/>
              <a:t> y versiones de compilación para la gestión automática del proyecto en </a:t>
            </a:r>
            <a:r>
              <a:rPr lang="es-ES" dirty="0" err="1"/>
              <a:t>Maven</a:t>
            </a:r>
            <a:r>
              <a:rPr lang="es-ES" dirty="0"/>
              <a:t>. Este archivo asegura la correcta integración de los componentes y la compatibilidad con las herramientas de </a:t>
            </a:r>
            <a:r>
              <a:rPr lang="es-ES" dirty="0" err="1"/>
              <a:t>JavaFX</a:t>
            </a:r>
            <a:r>
              <a:rPr lang="es-ES" dirty="0"/>
              <a:t>. Permite mantener un control estricto sobre la compilación del software.</a:t>
            </a:r>
            <a:endParaRPr lang="es-MX" dirty="0">
              <a:latin typeface="Calibri (Cuerpo)"/>
            </a:endParaRPr>
          </a:p>
        </p:txBody>
      </p:sp>
      <p:pic>
        <p:nvPicPr>
          <p:cNvPr id="4" name="Imagen 3" descr="C:\Users\yaira\OneDrive\Pictures\Screenshots\Captura de pantalla (724).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476" y="1905667"/>
            <a:ext cx="5612130" cy="3156585"/>
          </a:xfrm>
          <a:prstGeom prst="rect">
            <a:avLst/>
          </a:prstGeom>
          <a:noFill/>
          <a:ln>
            <a:noFill/>
          </a:ln>
        </p:spPr>
      </p:pic>
    </p:spTree>
    <p:extLst>
      <p:ext uri="{BB962C8B-B14F-4D97-AF65-F5344CB8AC3E}">
        <p14:creationId xmlns:p14="http://schemas.microsoft.com/office/powerpoint/2010/main" val="1772550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Menú de Opciones en el Explorador de Proyecto</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Despliegue del menú contextual sobre la estructura de directorios del proyecto, facilitando la adición rápida de nuevas clases y la manipulación de paquetes internos. Esta herramienta permite estructurar de forma limpia el código fuente siguiendo el paradigma de orientación a objetos. Facilita la navegación y el mantenimiento del código dentro del IDE. </a:t>
            </a:r>
            <a:endParaRPr lang="es-MX" dirty="0">
              <a:latin typeface="Calibri (Cuerpo)"/>
            </a:endParaRPr>
          </a:p>
        </p:txBody>
      </p:sp>
      <p:pic>
        <p:nvPicPr>
          <p:cNvPr id="4" name="Imagen 3" descr="C:\Users\yaira\OneDrive\Pictures\Screenshots\Captura de pantalla (725).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580" y="2017856"/>
            <a:ext cx="5612130" cy="3156585"/>
          </a:xfrm>
          <a:prstGeom prst="rect">
            <a:avLst/>
          </a:prstGeom>
          <a:noFill/>
          <a:ln>
            <a:noFill/>
          </a:ln>
        </p:spPr>
      </p:pic>
    </p:spTree>
    <p:extLst>
      <p:ext uri="{BB962C8B-B14F-4D97-AF65-F5344CB8AC3E}">
        <p14:creationId xmlns:p14="http://schemas.microsoft.com/office/powerpoint/2010/main" val="41337134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Estructura Inicial de la Clase Principal</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Vista del editor mostrando el archivo principal en blanco recién generado, listo para comenzar con la escritura de la clase que controlará la lógica del sistema. Este entorno ofrece resaltado de sintaxis y asistencia en tiempo real para el desarrollo en Java. Representa el punto de partida para la codificación del algoritmo de simulación. </a:t>
            </a:r>
            <a:endParaRPr lang="es-MX" dirty="0">
              <a:latin typeface="Calibri (Cuerpo)"/>
            </a:endParaRPr>
          </a:p>
        </p:txBody>
      </p:sp>
      <p:pic>
        <p:nvPicPr>
          <p:cNvPr id="4" name="Imagen 3" descr="C:\Users\yaira\OneDrive\Pictures\Screenshots\Captura de pantalla (72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581" y="1949030"/>
            <a:ext cx="5612130" cy="3156585"/>
          </a:xfrm>
          <a:prstGeom prst="rect">
            <a:avLst/>
          </a:prstGeom>
          <a:noFill/>
          <a:ln>
            <a:noFill/>
          </a:ln>
        </p:spPr>
      </p:pic>
    </p:spTree>
    <p:extLst>
      <p:ext uri="{BB962C8B-B14F-4D97-AF65-F5344CB8AC3E}">
        <p14:creationId xmlns:p14="http://schemas.microsoft.com/office/powerpoint/2010/main" val="4200192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Importación de Librerías y Declaración de Variables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a:t>Fragmento de código fuente en la clase FILA_ESPERA que muestra la importación de librerías gráficas de </a:t>
            </a:r>
            <a:r>
              <a:rPr lang="es-ES" dirty="0" err="1"/>
              <a:t>javax.swing</a:t>
            </a:r>
            <a:r>
              <a:rPr lang="es-ES" dirty="0"/>
              <a:t>, estructuras de datos de </a:t>
            </a:r>
            <a:r>
              <a:rPr lang="es-ES" dirty="0" err="1"/>
              <a:t>java.util</a:t>
            </a:r>
            <a:r>
              <a:rPr lang="es-ES" dirty="0"/>
              <a:t> y la declaración de componentes de interfaz y generadores aleatorios. Esta sección establece los cimientos lógicos y visuales para procesar los tiempos de llegada y servicio. El código organiza las variables globales necesarias para el cálculo estadístico.</a:t>
            </a:r>
            <a:endParaRPr lang="es-MX" dirty="0">
              <a:latin typeface="Calibri (Cuerpo)"/>
            </a:endParaRPr>
          </a:p>
        </p:txBody>
      </p:sp>
      <p:pic>
        <p:nvPicPr>
          <p:cNvPr id="4" name="Imagen 3" descr="C:\Users\yaira\OneDrive\Pictures\Screenshots\Captura de pantalla (72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2185003"/>
            <a:ext cx="5612130" cy="3156585"/>
          </a:xfrm>
          <a:prstGeom prst="rect">
            <a:avLst/>
          </a:prstGeom>
          <a:noFill/>
          <a:ln>
            <a:noFill/>
          </a:ln>
        </p:spPr>
      </p:pic>
    </p:spTree>
    <p:extLst>
      <p:ext uri="{BB962C8B-B14F-4D97-AF65-F5344CB8AC3E}">
        <p14:creationId xmlns:p14="http://schemas.microsoft.com/office/powerpoint/2010/main" val="20613134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Interfaz Gráfica del Simulador de Línea de Espera</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787062"/>
          </a:xfrm>
          <a:prstGeom prst="rect">
            <a:avLst/>
          </a:prstGeom>
          <a:noFill/>
        </p:spPr>
        <p:txBody>
          <a:bodyPr wrap="square">
            <a:spAutoFit/>
          </a:bodyPr>
          <a:lstStyle/>
          <a:p>
            <a:pPr algn="just">
              <a:lnSpc>
                <a:spcPct val="150000"/>
              </a:lnSpc>
            </a:pPr>
            <a:r>
              <a:rPr lang="es-ES" dirty="0"/>
              <a:t>Ventana ejecutada de la aplicación mostrando el panel de control gráfico con los campos de parámetros en cero y el diseño de la interfaz lista para recibir los datos de la simulación. La interfaz incluye un diseño moderno con indicadores superiores para métricas clave como espera promedio, máxima y utilización. Este panel interactivo permite al usuario configurar y probar diferentes escenarios operativos. </a:t>
            </a:r>
            <a:endParaRPr lang="es-MX" dirty="0">
              <a:latin typeface="Calibri (Cuerpo)"/>
            </a:endParaRPr>
          </a:p>
        </p:txBody>
      </p:sp>
      <p:pic>
        <p:nvPicPr>
          <p:cNvPr id="4" name="Imagen 3" descr="C:\Users\yaira\OneDrive\Pictures\Screenshots\Captura de pantalla (728).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3344" y="2005926"/>
            <a:ext cx="5612130" cy="3156585"/>
          </a:xfrm>
          <a:prstGeom prst="rect">
            <a:avLst/>
          </a:prstGeom>
          <a:noFill/>
          <a:ln>
            <a:noFill/>
          </a:ln>
        </p:spPr>
      </p:pic>
    </p:spTree>
    <p:extLst>
      <p:ext uri="{BB962C8B-B14F-4D97-AF65-F5344CB8AC3E}">
        <p14:creationId xmlns:p14="http://schemas.microsoft.com/office/powerpoint/2010/main" val="24488145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Resultados de la Ejecución y Métricas de Simulación</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4202561"/>
          </a:xfrm>
          <a:prstGeom prst="rect">
            <a:avLst/>
          </a:prstGeom>
          <a:noFill/>
        </p:spPr>
        <p:txBody>
          <a:bodyPr wrap="square">
            <a:spAutoFit/>
          </a:bodyPr>
          <a:lstStyle/>
          <a:p>
            <a:pPr algn="just">
              <a:lnSpc>
                <a:spcPct val="150000"/>
              </a:lnSpc>
            </a:pPr>
            <a:r>
              <a:rPr lang="es-ES" dirty="0"/>
              <a:t>Vista de la aplicación tras ejecutar el modelo, mostrando los resultados detallados por cliente en el área de texto y el cálculo automático de las métricas de desempeño como la espera promedio, cola máxima y porcentaje de utilización del servidor. El reporte numérico valida el comportamiento estocástico del sistema de atención ante llegadas y servicios aleatorios. Comprueba el funcionamiento correcto y la estabilidad del software programado en Java. </a:t>
            </a:r>
            <a:endParaRPr lang="es-MX" dirty="0">
              <a:latin typeface="Calibri (Cuerpo)"/>
            </a:endParaRPr>
          </a:p>
        </p:txBody>
      </p:sp>
      <p:pic>
        <p:nvPicPr>
          <p:cNvPr id="4" name="Imagen 3" descr="C:\Users\yaira\OneDrive\Pictures\Screenshots\Captura de pantalla (729).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580" y="2116178"/>
            <a:ext cx="5612130" cy="3156585"/>
          </a:xfrm>
          <a:prstGeom prst="rect">
            <a:avLst/>
          </a:prstGeom>
          <a:noFill/>
          <a:ln>
            <a:noFill/>
          </a:ln>
        </p:spPr>
      </p:pic>
    </p:spTree>
    <p:extLst>
      <p:ext uri="{BB962C8B-B14F-4D97-AF65-F5344CB8AC3E}">
        <p14:creationId xmlns:p14="http://schemas.microsoft.com/office/powerpoint/2010/main" val="4291148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normAutofit fontScale="90000"/>
          </a:bodyPr>
          <a:lstStyle/>
          <a:p>
            <a:pPr algn="ctr"/>
            <a:r>
              <a:rPr lang="es-MX" dirty="0">
                <a:solidFill>
                  <a:srgbClr val="FF0000"/>
                </a:solidFill>
              </a:rPr>
              <a:t>PROGRAMA 2 EN JAVA INTELLI J </a:t>
            </a:r>
            <a:r>
              <a:rPr lang="es-MX" dirty="0" smtClean="0">
                <a:solidFill>
                  <a:srgbClr val="FF0000"/>
                </a:solidFill>
              </a:rPr>
              <a:t>IDEA SIMULACION_INVENTARIO</a:t>
            </a:r>
            <a:br>
              <a:rPr lang="es-MX" dirty="0" smtClean="0">
                <a:solidFill>
                  <a:srgbClr val="FF0000"/>
                </a:solidFill>
              </a:rPr>
            </a:br>
            <a:r>
              <a:rPr lang="es-ES" dirty="0">
                <a:solidFill>
                  <a:srgbClr val="FF0000"/>
                </a:solidFill>
              </a:rPr>
              <a:t>Menú de Creación de Archivos en </a:t>
            </a:r>
            <a:r>
              <a:rPr lang="es-ES" dirty="0" err="1">
                <a:solidFill>
                  <a:srgbClr val="FF0000"/>
                </a:solidFill>
              </a:rPr>
              <a:t>IntelliJ</a:t>
            </a:r>
            <a:r>
              <a:rPr lang="es-ES" dirty="0">
                <a:solidFill>
                  <a:srgbClr val="FF0000"/>
                </a:solidFill>
              </a:rPr>
              <a:t> IDEA</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Vista del menú contextual en el IDE mostrando las opciones para la creación de nuevas clases, paquetes y componentes gráficos dentro del directorio del proyecto. Esta herramienta permite estructurar de forma modular el código fuente necesario para la simulación. Facilita la organización de los scripts de Java dentro del entorno de desarrollo.</a:t>
            </a:r>
            <a:endParaRPr lang="es-MX" dirty="0">
              <a:latin typeface="Calibri (Cuerpo)"/>
            </a:endParaRPr>
          </a:p>
        </p:txBody>
      </p:sp>
      <p:pic>
        <p:nvPicPr>
          <p:cNvPr id="4" name="Imagen 3" descr="C:\Users\yaira\OneDrive\Pictures\Screenshots\Captura de pantalla (730).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2126010"/>
            <a:ext cx="5612130" cy="3156585"/>
          </a:xfrm>
          <a:prstGeom prst="rect">
            <a:avLst/>
          </a:prstGeom>
          <a:noFill/>
          <a:ln>
            <a:noFill/>
          </a:ln>
        </p:spPr>
      </p:pic>
    </p:spTree>
    <p:extLst>
      <p:ext uri="{BB962C8B-B14F-4D97-AF65-F5344CB8AC3E}">
        <p14:creationId xmlns:p14="http://schemas.microsoft.com/office/powerpoint/2010/main" val="32943801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Ventana de Configuración del Proyecto de Inventarios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3371564"/>
          </a:xfrm>
          <a:prstGeom prst="rect">
            <a:avLst/>
          </a:prstGeom>
          <a:noFill/>
        </p:spPr>
        <p:txBody>
          <a:bodyPr wrap="square">
            <a:spAutoFit/>
          </a:bodyPr>
          <a:lstStyle/>
          <a:p>
            <a:pPr algn="just">
              <a:lnSpc>
                <a:spcPct val="150000"/>
              </a:lnSpc>
            </a:pPr>
            <a:r>
              <a:rPr lang="es-ES" dirty="0"/>
              <a:t>Pantalla de configuración para la creación del nuevo proyecto denominado SIMULACION_INVENTARIO, especificando el sistema de compilación </a:t>
            </a:r>
            <a:r>
              <a:rPr lang="es-ES" dirty="0" err="1"/>
              <a:t>Maven</a:t>
            </a:r>
            <a:r>
              <a:rPr lang="es-ES" dirty="0"/>
              <a:t> y la versión del JDK seleccionada. Este asistente permite inicializar correctamente los parámetros de arquitectura para la aplicación de control de stock. Asegura que la estructura de directorios se genere con los estándares requeridos.</a:t>
            </a:r>
            <a:endParaRPr lang="es-MX" dirty="0">
              <a:latin typeface="Calibri (Cuerpo)"/>
            </a:endParaRPr>
          </a:p>
        </p:txBody>
      </p:sp>
      <p:pic>
        <p:nvPicPr>
          <p:cNvPr id="5" name="Imagen 4" descr="C:\Users\yaira\OneDrive\Pictures\Screenshots\Captura de pantalla (731).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2017856"/>
            <a:ext cx="5612130" cy="3156585"/>
          </a:xfrm>
          <a:prstGeom prst="rect">
            <a:avLst/>
          </a:prstGeom>
          <a:noFill/>
          <a:ln>
            <a:noFill/>
          </a:ln>
        </p:spPr>
      </p:pic>
    </p:spTree>
    <p:extLst>
      <p:ext uri="{BB962C8B-B14F-4D97-AF65-F5344CB8AC3E}">
        <p14:creationId xmlns:p14="http://schemas.microsoft.com/office/powerpoint/2010/main" val="28288047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Panel de Librerías Adicionales</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Interfaz de selección de dependencias complementarias y paquetes gráficos opcionales ofrecidos por el IDE para la estructuración de la interfaz visual. Este panel permite integrar estilos predefinidos al proyecto en desarrollo. Ayuda a configurar de forma rápida los complementos que la aplicación pueda utilizar.</a:t>
            </a:r>
            <a:endParaRPr lang="es-MX" dirty="0">
              <a:latin typeface="Calibri (Cuerpo)"/>
            </a:endParaRPr>
          </a:p>
        </p:txBody>
      </p:sp>
      <p:pic>
        <p:nvPicPr>
          <p:cNvPr id="4" name="Imagen 3" descr="C:\Users\yaira\OneDrive\Pictures\Screenshots\Captura de pantalla (732).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821211"/>
            <a:ext cx="5612130" cy="3156585"/>
          </a:xfrm>
          <a:prstGeom prst="rect">
            <a:avLst/>
          </a:prstGeom>
          <a:noFill/>
          <a:ln>
            <a:noFill/>
          </a:ln>
        </p:spPr>
      </p:pic>
    </p:spTree>
    <p:extLst>
      <p:ext uri="{BB962C8B-B14F-4D97-AF65-F5344CB8AC3E}">
        <p14:creationId xmlns:p14="http://schemas.microsoft.com/office/powerpoint/2010/main" val="1991013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Estructura del Archivo POM.xml</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Vista del editor mostrando la configuración del archivo pom.xml, encargado de gestionar las dependencias, </a:t>
            </a:r>
            <a:r>
              <a:rPr lang="es-ES" dirty="0" err="1"/>
              <a:t>plugins</a:t>
            </a:r>
            <a:r>
              <a:rPr lang="es-ES" dirty="0"/>
              <a:t> de compilación y la versión del compilador para </a:t>
            </a:r>
            <a:r>
              <a:rPr lang="es-ES" dirty="0" err="1"/>
              <a:t>Maven</a:t>
            </a:r>
            <a:r>
              <a:rPr lang="es-ES" dirty="0"/>
              <a:t>. Este archivo es fundamental para asegurar la correcta compilación y compatibilidad del proyecto. Permite mantener automatizada la gestión de librerías del sistema.</a:t>
            </a:r>
            <a:endParaRPr lang="es-MX" dirty="0">
              <a:latin typeface="Calibri (Cuerpo)"/>
            </a:endParaRPr>
          </a:p>
        </p:txBody>
      </p:sp>
      <p:pic>
        <p:nvPicPr>
          <p:cNvPr id="4" name="Imagen 3" descr="C:\Users\yaira\OneDrive\Pictures\Screenshots\Captura de pantalla (733).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1800" y="1958862"/>
            <a:ext cx="5612130" cy="3156585"/>
          </a:xfrm>
          <a:prstGeom prst="rect">
            <a:avLst/>
          </a:prstGeom>
          <a:noFill/>
          <a:ln>
            <a:noFill/>
          </a:ln>
        </p:spPr>
      </p:pic>
    </p:spTree>
    <p:extLst>
      <p:ext uri="{BB962C8B-B14F-4D97-AF65-F5344CB8AC3E}">
        <p14:creationId xmlns:p14="http://schemas.microsoft.com/office/powerpoint/2010/main" val="38889546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Gestión de Directorios y Clases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6" y="1690688"/>
            <a:ext cx="5059680" cy="2956066"/>
          </a:xfrm>
          <a:prstGeom prst="rect">
            <a:avLst/>
          </a:prstGeom>
          <a:noFill/>
        </p:spPr>
        <p:txBody>
          <a:bodyPr wrap="square">
            <a:spAutoFit/>
          </a:bodyPr>
          <a:lstStyle/>
          <a:p>
            <a:pPr algn="just">
              <a:lnSpc>
                <a:spcPct val="150000"/>
              </a:lnSpc>
            </a:pPr>
            <a:r>
              <a:rPr lang="es-ES" dirty="0"/>
              <a:t>Despliegue del menú de opciones sobre el árbol de directorios del proyecto para agregar nuevas clases de Java destinadas al control del inventario. Esta función permite mantener el orden jerárquico del código conforme a la programación orientada a objetos. Facilita la navegación rápida entre los distintos componentes del sistema. </a:t>
            </a:r>
            <a:endParaRPr lang="es-MX" dirty="0">
              <a:latin typeface="Calibri (Cuerpo)"/>
            </a:endParaRPr>
          </a:p>
        </p:txBody>
      </p:sp>
      <p:pic>
        <p:nvPicPr>
          <p:cNvPr id="4" name="Imagen 3" descr="C:\Users\yaira\OneDrive\Pictures\Screenshots\Captura de pantalla (734).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476" y="1919533"/>
            <a:ext cx="5612130" cy="3156585"/>
          </a:xfrm>
          <a:prstGeom prst="rect">
            <a:avLst/>
          </a:prstGeom>
          <a:noFill/>
          <a:ln>
            <a:noFill/>
          </a:ln>
        </p:spPr>
      </p:pic>
    </p:spTree>
    <p:extLst>
      <p:ext uri="{BB962C8B-B14F-4D97-AF65-F5344CB8AC3E}">
        <p14:creationId xmlns:p14="http://schemas.microsoft.com/office/powerpoint/2010/main" val="22558675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Declaración de Variables Globales y Librerías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5928851" y="1690688"/>
            <a:ext cx="5692877" cy="3416320"/>
          </a:xfrm>
          <a:prstGeom prst="rect">
            <a:avLst/>
          </a:prstGeom>
          <a:noFill/>
        </p:spPr>
        <p:txBody>
          <a:bodyPr wrap="square">
            <a:spAutoFit/>
          </a:bodyPr>
          <a:lstStyle/>
          <a:p>
            <a:pPr algn="just">
              <a:lnSpc>
                <a:spcPct val="150000"/>
              </a:lnSpc>
            </a:pPr>
            <a:r>
              <a:rPr lang="es-ES" dirty="0"/>
              <a:t>Fragmento de código en la clase SIMULACION_INVENTARIO mostrando la importación de librerías gráficas de </a:t>
            </a:r>
            <a:r>
              <a:rPr lang="es-ES" dirty="0" err="1"/>
              <a:t>javax.swing</a:t>
            </a:r>
            <a:r>
              <a:rPr lang="es-ES" dirty="0"/>
              <a:t>, estructuras de datos y la declaración de campos de texto para los parámetros de inventario. Esta sección define los elementos visuales y las variables numéricas requeridas para modelar la política de reabastecimiento. El código estructura los componentes lógicos que darán soporte a la simulación.</a:t>
            </a:r>
            <a:endParaRPr lang="es-MX" dirty="0">
              <a:latin typeface="Calibri (Cuerpo)"/>
            </a:endParaRPr>
          </a:p>
        </p:txBody>
      </p:sp>
      <p:pic>
        <p:nvPicPr>
          <p:cNvPr id="4" name="Imagen 3" descr="C:\Users\yaira\OneDrive\Pictures\Screenshots\Captura de pantalla (735).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721" y="1950423"/>
            <a:ext cx="5612130" cy="3156585"/>
          </a:xfrm>
          <a:prstGeom prst="rect">
            <a:avLst/>
          </a:prstGeom>
          <a:noFill/>
          <a:ln>
            <a:noFill/>
          </a:ln>
        </p:spPr>
      </p:pic>
    </p:spTree>
    <p:extLst>
      <p:ext uri="{BB962C8B-B14F-4D97-AF65-F5344CB8AC3E}">
        <p14:creationId xmlns:p14="http://schemas.microsoft.com/office/powerpoint/2010/main" val="17556220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MX" dirty="0">
                <a:solidFill>
                  <a:srgbClr val="FF0000"/>
                </a:solidFill>
              </a:rPr>
              <a:t>Interfaz Gráfica Inicial del Simulador de Inventarios</a:t>
            </a: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5" y="1690688"/>
            <a:ext cx="5719917" cy="4247317"/>
          </a:xfrm>
          <a:prstGeom prst="rect">
            <a:avLst/>
          </a:prstGeom>
          <a:noFill/>
        </p:spPr>
        <p:txBody>
          <a:bodyPr wrap="square">
            <a:spAutoFit/>
          </a:bodyPr>
          <a:lstStyle/>
          <a:p>
            <a:pPr algn="just">
              <a:lnSpc>
                <a:spcPct val="150000"/>
              </a:lnSpc>
            </a:pPr>
            <a:r>
              <a:rPr lang="es-ES" dirty="0"/>
              <a:t>Ventana de la aplicación ejecutándose con los campos de parámetros del sistema listos (número de días, inventario inicial, demanda promedio, punto de </a:t>
            </a:r>
            <a:r>
              <a:rPr lang="es-ES" dirty="0" err="1"/>
              <a:t>reorden</a:t>
            </a:r>
            <a:r>
              <a:rPr lang="es-ES" dirty="0"/>
              <a:t>, cantidad por pedido y tiempo de entrega) con sus valores predeterminados y métricas en cero. El diseño de la interfaz incluye paneles superiores para visualizar resultados clave como inventario final, demanda total, pedidos y días con desabasto. Este entorno interactivo permite al usuario configurar diferentes escenarios operativos antes de ejecutar el modelo.</a:t>
            </a:r>
            <a:endParaRPr lang="es-MX" dirty="0">
              <a:latin typeface="Calibri (Cuerpo)"/>
            </a:endParaRPr>
          </a:p>
        </p:txBody>
      </p:sp>
      <p:pic>
        <p:nvPicPr>
          <p:cNvPr id="4" name="Imagen 3" descr="C:\Users\yaira\OneDrive\Pictures\Screenshots\Captura de pantalla (736).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9418" y="1988359"/>
            <a:ext cx="5612130" cy="3156585"/>
          </a:xfrm>
          <a:prstGeom prst="rect">
            <a:avLst/>
          </a:prstGeom>
          <a:noFill/>
          <a:ln>
            <a:noFill/>
          </a:ln>
        </p:spPr>
      </p:pic>
    </p:spTree>
    <p:extLst>
      <p:ext uri="{BB962C8B-B14F-4D97-AF65-F5344CB8AC3E}">
        <p14:creationId xmlns:p14="http://schemas.microsoft.com/office/powerpoint/2010/main" val="24978521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523EA46-C2F2-19B1-2E48-E3AFC2FCB39D}"/>
              </a:ext>
            </a:extLst>
          </p:cNvPr>
          <p:cNvSpPr>
            <a:spLocks noGrp="1"/>
          </p:cNvSpPr>
          <p:nvPr>
            <p:ph type="title"/>
          </p:nvPr>
        </p:nvSpPr>
        <p:spPr>
          <a:xfrm>
            <a:off x="838199" y="365125"/>
            <a:ext cx="10567219" cy="1325563"/>
          </a:xfrm>
        </p:spPr>
        <p:txBody>
          <a:bodyPr/>
          <a:lstStyle/>
          <a:p>
            <a:pPr algn="ctr"/>
            <a:r>
              <a:rPr lang="es-ES" dirty="0">
                <a:solidFill>
                  <a:srgbClr val="FF0000"/>
                </a:solidFill>
              </a:rPr>
              <a:t>Resultados de la Simulación de Inventarios</a:t>
            </a:r>
            <a:endParaRPr lang="es-MX" dirty="0">
              <a:solidFill>
                <a:srgbClr val="FF0000"/>
              </a:solidFill>
            </a:endParaRPr>
          </a:p>
        </p:txBody>
      </p:sp>
      <p:sp>
        <p:nvSpPr>
          <p:cNvPr id="10" name="CuadroTexto 9">
            <a:extLst>
              <a:ext uri="{FF2B5EF4-FFF2-40B4-BE49-F238E27FC236}">
                <a16:creationId xmlns="" xmlns:a16="http://schemas.microsoft.com/office/drawing/2014/main" id="{A10375A2-4CE5-1799-FD81-515C7DA9DC19}"/>
              </a:ext>
            </a:extLst>
          </p:cNvPr>
          <p:cNvSpPr txBox="1"/>
          <p:nvPr/>
        </p:nvSpPr>
        <p:spPr>
          <a:xfrm>
            <a:off x="6265605" y="1690688"/>
            <a:ext cx="5601929" cy="3416320"/>
          </a:xfrm>
          <a:prstGeom prst="rect">
            <a:avLst/>
          </a:prstGeom>
          <a:noFill/>
        </p:spPr>
        <p:txBody>
          <a:bodyPr wrap="square">
            <a:spAutoFit/>
          </a:bodyPr>
          <a:lstStyle/>
          <a:p>
            <a:pPr algn="just">
              <a:lnSpc>
                <a:spcPct val="150000"/>
              </a:lnSpc>
            </a:pPr>
            <a:r>
              <a:rPr lang="es-ES" dirty="0"/>
              <a:t>Vista de la aplicación tras procesar la simulación, mostrando el registro detallado día a día de la evolución del inventario, la generación de pedidos y el estado de la demanda en el área de resultados. La interfaz presenta de forma numérica las métricas finales de desempeño, validando el comportamiento estocástico del modelo de reabastecimiento. Comprueba el funcionamiento operativo y la precisión del software programado en Java.</a:t>
            </a:r>
            <a:endParaRPr lang="es-MX" dirty="0">
              <a:latin typeface="Calibri (Cuerpo)"/>
            </a:endParaRPr>
          </a:p>
        </p:txBody>
      </p:sp>
      <p:pic>
        <p:nvPicPr>
          <p:cNvPr id="4" name="Imagen 3" descr="C:\Users\yaira\OneDrive\Pictures\Screenshots\Captura de pantalla (737).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9678" y="1820555"/>
            <a:ext cx="5612130" cy="3156585"/>
          </a:xfrm>
          <a:prstGeom prst="rect">
            <a:avLst/>
          </a:prstGeom>
          <a:noFill/>
          <a:ln>
            <a:noFill/>
          </a:ln>
        </p:spPr>
      </p:pic>
    </p:spTree>
    <p:extLst>
      <p:ext uri="{BB962C8B-B14F-4D97-AF65-F5344CB8AC3E}">
        <p14:creationId xmlns:p14="http://schemas.microsoft.com/office/powerpoint/2010/main" val="478813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 xmlns:a16="http://schemas.microsoft.com/office/drawing/2014/main" id="{130AC5D9-9FD1-99B5-CB0C-FC5B34DE4F9B}"/>
              </a:ext>
            </a:extLst>
          </p:cNvPr>
          <p:cNvSpPr>
            <a:spLocks noGrp="1"/>
          </p:cNvSpPr>
          <p:nvPr>
            <p:ph idx="1"/>
          </p:nvPr>
        </p:nvSpPr>
        <p:spPr>
          <a:xfrm>
            <a:off x="838200" y="968375"/>
            <a:ext cx="10515600" cy="4921148"/>
          </a:xfrm>
        </p:spPr>
        <p:txBody>
          <a:bodyPr>
            <a:normAutofit fontScale="92500" lnSpcReduction="10000"/>
          </a:bodyPr>
          <a:lstStyle/>
          <a:p>
            <a:pPr marL="0" indent="0" algn="ctr">
              <a:buNone/>
            </a:pPr>
            <a:r>
              <a:rPr lang="es-MX" sz="4800" b="1" dirty="0">
                <a:solidFill>
                  <a:srgbClr val="FF0000"/>
                </a:solidFill>
                <a:latin typeface="+mj-lt"/>
              </a:rPr>
              <a:t>Conclusión</a:t>
            </a:r>
          </a:p>
          <a:p>
            <a:pPr marL="0" indent="0" algn="just">
              <a:lnSpc>
                <a:spcPct val="150000"/>
              </a:lnSpc>
              <a:buNone/>
            </a:pPr>
            <a:r>
              <a:rPr lang="es-ES" dirty="0"/>
              <a:t>El desarrollo de esta práctica permitió comprender y aplicar de manera efectiva los fundamentos de la simulación de sistemas discretos mediante el uso de múltiples lenguajes de programación como R, Python y el entorno de Java. A través de la implementación de modelos orientados a la optimización de líneas de espera y la gestión de inventarios, se evidenció la importancia de estructurar interfaces gráficas interactivas que faciliten la manipulación de variables y el análisis dinámico de los resultados.</a:t>
            </a:r>
            <a:endParaRPr lang="es-MX" dirty="0"/>
          </a:p>
        </p:txBody>
      </p:sp>
    </p:spTree>
    <p:extLst>
      <p:ext uri="{BB962C8B-B14F-4D97-AF65-F5344CB8AC3E}">
        <p14:creationId xmlns:p14="http://schemas.microsoft.com/office/powerpoint/2010/main" val="41559223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1E4124EC-CD38-C073-CDBA-5D847311AD5F}"/>
              </a:ext>
            </a:extLst>
          </p:cNvPr>
          <p:cNvSpPr>
            <a:spLocks noGrp="1"/>
          </p:cNvSpPr>
          <p:nvPr>
            <p:ph type="title"/>
          </p:nvPr>
        </p:nvSpPr>
        <p:spPr/>
        <p:txBody>
          <a:bodyPr/>
          <a:lstStyle/>
          <a:p>
            <a:pPr algn="ctr"/>
            <a:r>
              <a:rPr lang="es-MX" b="1" dirty="0">
                <a:solidFill>
                  <a:srgbClr val="FF0000"/>
                </a:solidFill>
              </a:rPr>
              <a:t>FUENTE DE INFORMACION</a:t>
            </a:r>
          </a:p>
        </p:txBody>
      </p:sp>
      <p:sp>
        <p:nvSpPr>
          <p:cNvPr id="3" name="Marcador de contenido 2">
            <a:extLst>
              <a:ext uri="{FF2B5EF4-FFF2-40B4-BE49-F238E27FC236}">
                <a16:creationId xmlns="" xmlns:a16="http://schemas.microsoft.com/office/drawing/2014/main" id="{820F83E8-77E6-BA3C-CE9D-7E292129AB41}"/>
              </a:ext>
            </a:extLst>
          </p:cNvPr>
          <p:cNvSpPr>
            <a:spLocks noGrp="1"/>
          </p:cNvSpPr>
          <p:nvPr>
            <p:ph idx="1"/>
          </p:nvPr>
        </p:nvSpPr>
        <p:spPr/>
        <p:txBody>
          <a:bodyPr>
            <a:normAutofit/>
          </a:bodyPr>
          <a:lstStyle/>
          <a:p>
            <a:r>
              <a:rPr lang="es-MX" dirty="0">
                <a:hlinkClick r:id="rId2"/>
              </a:rPr>
              <a:t>https://</a:t>
            </a:r>
            <a:r>
              <a:rPr lang="es-MX" dirty="0" smtClean="0">
                <a:hlinkClick r:id="rId2"/>
              </a:rPr>
              <a:t>www.youtube.com/watch?v=YXPyB4XeYLA</a:t>
            </a:r>
            <a:endParaRPr lang="es-MX" dirty="0" smtClean="0"/>
          </a:p>
          <a:p>
            <a:r>
              <a:rPr lang="es-MX" dirty="0">
                <a:hlinkClick r:id="rId3"/>
              </a:rPr>
              <a:t>https://</a:t>
            </a:r>
            <a:r>
              <a:rPr lang="es-MX" dirty="0" smtClean="0">
                <a:hlinkClick r:id="rId3"/>
              </a:rPr>
              <a:t>www.youtube.com/watch?v=wyxyEQROXjY</a:t>
            </a:r>
            <a:endParaRPr lang="es-MX" dirty="0"/>
          </a:p>
        </p:txBody>
      </p:sp>
    </p:spTree>
    <p:extLst>
      <p:ext uri="{BB962C8B-B14F-4D97-AF65-F5344CB8AC3E}">
        <p14:creationId xmlns:p14="http://schemas.microsoft.com/office/powerpoint/2010/main" val="14363354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 xmlns:a16="http://schemas.microsoft.com/office/drawing/2014/main" id="{E123D5AD-B34F-94DE-CA8C-4E027E6EDC22}"/>
              </a:ext>
            </a:extLst>
          </p:cNvPr>
          <p:cNvSpPr>
            <a:spLocks noGrp="1"/>
          </p:cNvSpPr>
          <p:nvPr>
            <p:ph idx="1"/>
          </p:nvPr>
        </p:nvSpPr>
        <p:spPr>
          <a:xfrm>
            <a:off x="838200" y="294968"/>
            <a:ext cx="10515600" cy="5881995"/>
          </a:xfrm>
          <a:ln>
            <a:solidFill>
              <a:schemeClr val="accent5">
                <a:lumMod val="75000"/>
              </a:schemeClr>
            </a:solidFill>
          </a:ln>
        </p:spPr>
        <p:txBody>
          <a:bodyPr>
            <a:normAutofit/>
          </a:bodyPr>
          <a:lstStyle/>
          <a:p>
            <a:pPr marL="0" indent="0" algn="ctr">
              <a:buNone/>
            </a:pPr>
            <a:r>
              <a:rPr lang="es-MX" sz="5200" b="1" kern="0" dirty="0" smtClean="0">
                <a:solidFill>
                  <a:srgbClr val="FF0000"/>
                </a:solidFill>
                <a:latin typeface="+mj-lt"/>
                <a:cs typeface="Arial" panose="020B0604020202020204" pitchFamily="34" charset="0"/>
              </a:rPr>
              <a:t>ENTREGA EN GIT</a:t>
            </a:r>
          </a:p>
          <a:p>
            <a:pPr marL="0" indent="0" algn="ctr">
              <a:buNone/>
            </a:pPr>
            <a:endParaRPr lang="es-MX" sz="5200" b="1" kern="0" dirty="0">
              <a:solidFill>
                <a:srgbClr val="FF0000"/>
              </a:solidFill>
              <a:latin typeface="+mj-lt"/>
              <a:cs typeface="Arial" panose="020B0604020202020204" pitchFamily="34" charset="0"/>
            </a:endParaRPr>
          </a:p>
          <a:p>
            <a:pPr marL="0" indent="0" algn="ctr">
              <a:buNone/>
            </a:pPr>
            <a:endParaRPr lang="es-ES" dirty="0">
              <a:solidFill>
                <a:srgbClr val="FF0000"/>
              </a:solidFill>
            </a:endParaRPr>
          </a:p>
        </p:txBody>
      </p:sp>
    </p:spTree>
    <p:extLst>
      <p:ext uri="{BB962C8B-B14F-4D97-AF65-F5344CB8AC3E}">
        <p14:creationId xmlns:p14="http://schemas.microsoft.com/office/powerpoint/2010/main" val="216031571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1925</TotalTime>
  <Words>3289</Words>
  <Application>Microsoft Office PowerPoint</Application>
  <PresentationFormat>Panorámica</PresentationFormat>
  <Paragraphs>128</Paragraphs>
  <Slides>52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52</vt:i4>
      </vt:variant>
    </vt:vector>
  </HeadingPairs>
  <TitlesOfParts>
    <vt:vector size="58" baseType="lpstr">
      <vt:lpstr>Arial</vt:lpstr>
      <vt:lpstr>Calibri</vt:lpstr>
      <vt:lpstr>Calibri (Cuerpo)</vt:lpstr>
      <vt:lpstr>Calibri Light</vt:lpstr>
      <vt:lpstr>Times New Roman</vt:lpstr>
      <vt:lpstr>Tema de Office</vt:lpstr>
      <vt:lpstr>Presentación de PowerPoint</vt:lpstr>
      <vt:lpstr>Presentación de PowerPoint</vt:lpstr>
      <vt:lpstr>Presentación de PowerPoint</vt:lpstr>
      <vt:lpstr>justificacion</vt:lpstr>
      <vt:lpstr>PROGRAMA 1 EN RSTUDIO, FILA_ESPERA Página Principal de RSTUDIO</vt:lpstr>
      <vt:lpstr>Creación de un Nuevo Script</vt:lpstr>
      <vt:lpstr>Cuadro de Diálogo para Guardar el Archivo</vt:lpstr>
      <vt:lpstr>Editor de Código y Carga de Librerías</vt:lpstr>
      <vt:lpstr>Interfaz Gráfica Inicial del Simulador</vt:lpstr>
      <vt:lpstr>Ejecución y Resultados de la Simulación</vt:lpstr>
      <vt:lpstr>PROGRAMA 2 EN RSTUDIO SISTEMA_INVENTARIO PAGINA PRINCIPAL DE RSTUDIO </vt:lpstr>
      <vt:lpstr>Menú de Creación de Archivos</vt:lpstr>
      <vt:lpstr>Guardado del Script de Inventarios</vt:lpstr>
      <vt:lpstr>Editor de Código para Inventarios</vt:lpstr>
      <vt:lpstr>Interfaz Gráfica del Simulador de Inventarios</vt:lpstr>
      <vt:lpstr>Resultados y Gráfica de Comportamiento</vt:lpstr>
      <vt:lpstr>Panel de Métricas y Estado del Sistema</vt:lpstr>
      <vt:lpstr>PROGRAMA 1 EN PYTHON FILA_ESPERA Interfaz del Entorno VS Code</vt:lpstr>
      <vt:lpstr>Menú de Creación de Archivos</vt:lpstr>
      <vt:lpstr>Cuadro de Diálogo para Guardar el Script</vt:lpstr>
      <vt:lpstr>Editor de Código para Líneas de Espera</vt:lpstr>
      <vt:lpstr>Configuración del Panel Gráfico</vt:lpstr>
      <vt:lpstr>Interfaz Gráfica Inicial del Simulador</vt:lpstr>
      <vt:lpstr>Resultados y Gráfica de Comportamiento</vt:lpstr>
      <vt:lpstr>PROGRAMA 2 EN PYTHON SIMULACION_INVENTARIO Pantalla de Bienvenida en VS Code</vt:lpstr>
      <vt:lpstr>Selección de Archivo Nuevo</vt:lpstr>
      <vt:lpstr>Guardado del Script de Inventario</vt:lpstr>
      <vt:lpstr>Editor de Código y Librerías</vt:lpstr>
      <vt:lpstr>Configuración del Panel de Parámetros</vt:lpstr>
      <vt:lpstr>Interfaz Gráfica Inicial del Simulador</vt:lpstr>
      <vt:lpstr>Resultados y Comportamiento del Inventario</vt:lpstr>
      <vt:lpstr>PROGRAMA 1 EN JAVA INTELLI J IDEA FILA_ESPERA Entorno de IntelliJ IDEA</vt:lpstr>
      <vt:lpstr>Creación de Nueva Clase o Archivo</vt:lpstr>
      <vt:lpstr>Configuración de Nuevo Proyecto</vt:lpstr>
      <vt:lpstr>Configuración de Librerías Adicionales</vt:lpstr>
      <vt:lpstr>Estructura del Archivo POM de Maven</vt:lpstr>
      <vt:lpstr>Menú de Opciones en el Explorador de Proyecto</vt:lpstr>
      <vt:lpstr>Estructura Inicial de la Clase Principal</vt:lpstr>
      <vt:lpstr>Importación de Librerías y Declaración de Variables</vt:lpstr>
      <vt:lpstr>Interfaz Gráfica del Simulador de Línea de Espera</vt:lpstr>
      <vt:lpstr>Resultados de la Ejecución y Métricas de Simulación</vt:lpstr>
      <vt:lpstr>PROGRAMA 2 EN JAVA INTELLI J IDEA SIMULACION_INVENTARIO Menú de Creación de Archivos en IntelliJ IDEA</vt:lpstr>
      <vt:lpstr>Ventana de Configuración del Proyecto de Inventarios</vt:lpstr>
      <vt:lpstr>Panel de Librerías Adicionales</vt:lpstr>
      <vt:lpstr>Estructura del Archivo POM.xml</vt:lpstr>
      <vt:lpstr>Gestión de Directorios y Clases</vt:lpstr>
      <vt:lpstr>Declaración de Variables Globales y Librerías</vt:lpstr>
      <vt:lpstr>Interfaz Gráfica Inicial del Simulador de Inventarios</vt:lpstr>
      <vt:lpstr>Resultados de la Simulación de Inventarios</vt:lpstr>
      <vt:lpstr>Presentación de PowerPoint</vt:lpstr>
      <vt:lpstr>FUENTE DE INFORMACION</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 aquino villanueva</dc:creator>
  <cp:lastModifiedBy>Cuenta Microsoft</cp:lastModifiedBy>
  <cp:revision>87</cp:revision>
  <dcterms:created xsi:type="dcterms:W3CDTF">2026-02-14T13:39:49Z</dcterms:created>
  <dcterms:modified xsi:type="dcterms:W3CDTF">2026-10-03T21:19:40Z</dcterms:modified>
</cp:coreProperties>
</file>