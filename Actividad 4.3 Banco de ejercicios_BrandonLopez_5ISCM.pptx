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63" r:id="rId3"/>
    <p:sldId id="258" r:id="rId4"/>
    <p:sldId id="303" r:id="rId5"/>
    <p:sldId id="277" r:id="rId6"/>
    <p:sldId id="308" r:id="rId7"/>
    <p:sldId id="309" r:id="rId8"/>
    <p:sldId id="443" r:id="rId9"/>
    <p:sldId id="444" r:id="rId10"/>
    <p:sldId id="340" r:id="rId11"/>
    <p:sldId id="337" r:id="rId12"/>
    <p:sldId id="445" r:id="rId13"/>
    <p:sldId id="446" r:id="rId14"/>
    <p:sldId id="447" r:id="rId15"/>
    <p:sldId id="350" r:id="rId16"/>
    <p:sldId id="349" r:id="rId17"/>
    <p:sldId id="356" r:id="rId18"/>
    <p:sldId id="448" r:id="rId19"/>
    <p:sldId id="449" r:id="rId20"/>
    <p:sldId id="361" r:id="rId21"/>
    <p:sldId id="357" r:id="rId22"/>
    <p:sldId id="374" r:id="rId23"/>
    <p:sldId id="450" r:id="rId24"/>
    <p:sldId id="451" r:id="rId25"/>
    <p:sldId id="417" r:id="rId26"/>
    <p:sldId id="429" r:id="rId27"/>
    <p:sldId id="428" r:id="rId28"/>
    <p:sldId id="452" r:id="rId29"/>
    <p:sldId id="453" r:id="rId30"/>
    <p:sldId id="425" r:id="rId31"/>
    <p:sldId id="424" r:id="rId32"/>
    <p:sldId id="423" r:id="rId33"/>
    <p:sldId id="431" r:id="rId34"/>
    <p:sldId id="432" r:id="rId35"/>
    <p:sldId id="260" r:id="rId3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8B5F02-D1F5-4A8C-9E16-879D2FAAE6D2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8E338-237A-4FD6-91E8-AE3330CCA9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1433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2797A6B-C8A5-A893-2EB4-EAD802D176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12E9E8D3-983C-1FBA-F097-D58F78BA9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20900B84-F10B-751B-5908-FC18C6422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89A144F6-9197-16C1-A989-50C7A0E49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86DBAAEB-1ABF-E979-BAC2-66927C69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7284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C953055-0E2B-CB93-6D72-F6BFE456B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BC4E3AF4-F79F-763A-9DAF-C6C175A55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A8555DC5-3E01-56E7-631E-04D4A904C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55B53975-0403-0D44-401F-71EA01B21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763A586F-F27C-248A-D498-ADFFEFE93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4290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8E57E10-4726-7D0A-E1F8-93439BFF2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A7C9CE40-9232-9AC4-A9C6-59A9B8473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D81E2653-A3E2-493F-59D0-04D925E18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1ADFD983-ED4E-38A6-DCD5-DB9EF6346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BD502D16-37E0-4D0D-5BB7-68A3BDB4C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22089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C60EA5F-E2E9-67F7-E292-C84FCB6F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7F13239D-44F0-8AD1-FF8A-D79A0CA817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xmlns="" id="{3769FD3F-356E-6F60-6A25-56717337F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917C736D-F3D7-D82B-BB73-E65F46C18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C692062B-BCCF-C2B2-D017-588DE1229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D0151BE1-2995-E957-66B3-46B9B160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2492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E81DADCE-63AC-54B1-31D4-48CC1F828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7BE131CC-B953-9DA0-84D7-342F7661F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xmlns="" id="{D1ADC272-3617-466E-F6F0-16A810751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xmlns="" id="{6FDDCA87-61A0-8976-E9D1-03EDE6E114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xmlns="" id="{350B0352-2822-B688-0216-B6F8FB988F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xmlns="" id="{DA0D192A-B4AB-FABE-D934-62F9F766D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xmlns="" id="{144D7369-D1D8-1689-1054-CDA289864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xmlns="" id="{538CB792-19CD-5761-B36C-DC7CC9459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154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43624A4-077D-5486-B7D9-11FE3E1CD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xmlns="" id="{8C9D86B5-34D8-63DA-CA5E-EB64FC37B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xmlns="" id="{9F1CB502-05EE-237F-2E29-626516E35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xmlns="" id="{254E0509-4D7E-FE6F-A441-35102690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4198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xmlns="" id="{13D2BB40-084A-590A-568A-4FBC55A7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xmlns="" id="{1031945B-3C8A-CC04-90CF-86A6FB926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0554383D-C3B6-AF0C-D3F1-2DB73EE04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5390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EC207E4E-5A62-92CA-7ACA-D3C6DC7B5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0843F851-D00D-6093-A986-6C5F35C56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xmlns="" id="{A96ECEE2-9260-2C2E-BC65-C11DE6DF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196AE17B-F1FD-90D4-9A7D-49AAC564D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561728C9-30AA-559A-CB48-C6B866313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CCF8E15D-A90F-EA63-7DF9-46C7810DE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89318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E2DD758-F948-B2A7-DC08-B687F91B8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xmlns="" id="{A1C892A9-AD64-6F7D-FEE0-967756CA2C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xmlns="" id="{1D238B53-DBF4-A3CB-9E1A-386EDC498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B7447764-59A7-8823-1D1A-CF02217FD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80A3D35F-6746-D59D-FB36-01BA85D38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765FE247-F7A5-5BF6-7419-4D0C9940C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9346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23FDA35-B0B4-E787-3D72-F031788E9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xmlns="" id="{E0F0C38B-FF72-ABBA-A9A3-57F2D48A3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721F98C5-01BB-732B-11CB-7FADA2897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109513AF-E2D8-C50D-31BA-5F9705122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826C0206-8F5E-04A4-613D-6EC2B598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6301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xmlns="" id="{5FF840C8-6BFA-8DB5-04D9-2FFF606B9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xmlns="" id="{483C22F2-C176-59C9-19E7-C3A94CBB2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D612D9B4-8F58-BE69-EF19-A521A08A9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3DB5D75A-9186-AC95-3F60-D715E515C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1FF889DC-3AEB-704A-0884-C0B1EAD82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76172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xmlns="" id="{C9D456B8-F474-DC21-CA32-71136C73E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5776B21C-E071-F827-CAB6-8D305BED3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DCD4E7BC-1E44-2D21-548A-97F953824F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44A13C-A177-47DD-903A-D74B08377F6A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2D6E618A-2674-067F-A9B5-F000F8046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5F06479D-49A2-2EF0-B936-306AEE0B0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32253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n 25">
            <a:extLst>
              <a:ext uri="{FF2B5EF4-FFF2-40B4-BE49-F238E27FC236}">
                <a16:creationId xmlns:a16="http://schemas.microsoft.com/office/drawing/2014/main" xmlns="" id="{13792C0E-56A4-038E-25C8-41619E973B3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91815" y="510540"/>
            <a:ext cx="5303520" cy="5836920"/>
          </a:xfrm>
          <a:prstGeom prst="rect">
            <a:avLst/>
          </a:prstGeom>
          <a:noFill/>
        </p:spPr>
      </p:pic>
      <p:pic>
        <p:nvPicPr>
          <p:cNvPr id="11" name="Imagen 10" descr="Logotipo&#10;&#10;Descripción generada automáticamente">
            <a:extLst>
              <a:ext uri="{FF2B5EF4-FFF2-40B4-BE49-F238E27FC236}">
                <a16:creationId xmlns:a16="http://schemas.microsoft.com/office/drawing/2014/main" xmlns="" id="{76F1C2F9-DDFC-CBF2-E48A-E64DE4A37DF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45905" y="46990"/>
            <a:ext cx="2301875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xmlns="" id="{503E3447-738B-D8B1-B47D-8EBA647E114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77495" y="46990"/>
            <a:ext cx="1516380" cy="10896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xmlns="" id="{29E7C584-C5C9-2730-50A7-5B38CB386E43}"/>
              </a:ext>
            </a:extLst>
          </p:cNvPr>
          <p:cNvSpPr txBox="1"/>
          <p:nvPr/>
        </p:nvSpPr>
        <p:spPr>
          <a:xfrm>
            <a:off x="1943100" y="374015"/>
            <a:ext cx="7124700" cy="799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TECNOLÓGICO NACIONAL DE MÉXICO</a:t>
            </a:r>
            <a:endParaRPr lang="es-MX" sz="16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UNIDAD ACADÉMICA VENUSTIANO CARRANZA</a:t>
            </a:r>
            <a:endParaRPr lang="es-MX" sz="16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xmlns="" id="{A4A9E771-2CE9-85CC-E1A4-169697077E49}"/>
              </a:ext>
            </a:extLst>
          </p:cNvPr>
          <p:cNvSpPr txBox="1"/>
          <p:nvPr/>
        </p:nvSpPr>
        <p:spPr>
          <a:xfrm>
            <a:off x="2550694" y="1329363"/>
            <a:ext cx="6096000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s-MX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INGENIERÍA EN SISTEMAS COMPUTACIONALES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xmlns="" id="{1FA8327A-BF41-1978-27AD-7942D85077F5}"/>
              </a:ext>
            </a:extLst>
          </p:cNvPr>
          <p:cNvSpPr txBox="1"/>
          <p:nvPr/>
        </p:nvSpPr>
        <p:spPr>
          <a:xfrm>
            <a:off x="2550694" y="1824715"/>
            <a:ext cx="6096000" cy="1219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ADMINISTRACION DE BASE DE DATOS 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ACTIVIDAD 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ACTIVIDAD </a:t>
            </a:r>
            <a:r>
              <a:rPr lang="es-MX" sz="2000" b="1" kern="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s-MX" sz="2000" b="1" kern="0" smtClean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.3 </a:t>
            </a:r>
            <a:r>
              <a:rPr lang="es-MX" sz="20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s-MX" sz="2000" b="1" kern="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BANCO DE EJERCICIOS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xmlns="" id="{C3F20D4B-4AB8-951E-96AB-E5F9938ABB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773626"/>
              </p:ext>
            </p:extLst>
          </p:nvPr>
        </p:nvGraphicFramePr>
        <p:xfrm>
          <a:off x="3249461" y="3714744"/>
          <a:ext cx="4505960" cy="762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xmlns="" val="3511045433"/>
                    </a:ext>
                  </a:extLst>
                </a:gridCol>
                <a:gridCol w="1808480">
                  <a:extLst>
                    <a:ext uri="{9D8B030D-6E8A-4147-A177-3AD203B41FA5}">
                      <a16:colId xmlns:a16="http://schemas.microsoft.com/office/drawing/2014/main" xmlns="" val="220619771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SEMESTRE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SEXTO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7148842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NOMBRE DEL ALUMNO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MATRICULA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1920187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Brandon</a:t>
                      </a:r>
                      <a:r>
                        <a:rPr lang="en-US" sz="1200" b="1" kern="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Farith Lopez Nanga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241260050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98394392"/>
                  </a:ext>
                </a:extLst>
              </a:tr>
            </a:tbl>
          </a:graphicData>
        </a:graphic>
      </p:graphicFrame>
      <p:sp>
        <p:nvSpPr>
          <p:cNvPr id="21" name="CuadroTexto 20">
            <a:extLst>
              <a:ext uri="{FF2B5EF4-FFF2-40B4-BE49-F238E27FC236}">
                <a16:creationId xmlns:a16="http://schemas.microsoft.com/office/drawing/2014/main" xmlns="" id="{2BBA4D31-60C9-991B-3D34-3585F8C8348E}"/>
              </a:ext>
            </a:extLst>
          </p:cNvPr>
          <p:cNvSpPr txBox="1"/>
          <p:nvPr/>
        </p:nvSpPr>
        <p:spPr>
          <a:xfrm>
            <a:off x="4010525" y="3048181"/>
            <a:ext cx="2983833" cy="1165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PRESENTA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xmlns="" id="{D2284A4D-D83A-881E-63B3-639ACAB1ACB4}"/>
              </a:ext>
            </a:extLst>
          </p:cNvPr>
          <p:cNvSpPr txBox="1"/>
          <p:nvPr/>
        </p:nvSpPr>
        <p:spPr>
          <a:xfrm>
            <a:off x="2550694" y="4809176"/>
            <a:ext cx="6096000" cy="92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600" b="1" kern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DOCENTE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ING. FRANCISCO JAVIER MINGO VELAZQUEZ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xmlns="" id="{2669DBE5-FAF1-35CF-08F0-D08353CB1B1B}"/>
              </a:ext>
            </a:extLst>
          </p:cNvPr>
          <p:cNvSpPr txBox="1"/>
          <p:nvPr/>
        </p:nvSpPr>
        <p:spPr>
          <a:xfrm>
            <a:off x="1793875" y="6265557"/>
            <a:ext cx="7812505" cy="107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02 DE OCTUBRE</a:t>
            </a:r>
            <a:r>
              <a:rPr lang="es-MX" sz="2000" b="1" kern="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MX" sz="20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 2026</a:t>
            </a:r>
            <a:r>
              <a:rPr lang="es-MX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VENUSTIANO CARRANZA, CHIAPAS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800" kern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/>
            </a:r>
            <a:br>
              <a:rPr lang="en-US" sz="1800" kern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01011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E123D5AD-B34F-94DE-CA8C-4E027E6ED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704" y="294968"/>
            <a:ext cx="10515600" cy="5498537"/>
          </a:xfrm>
          <a:ln>
            <a:solidFill>
              <a:schemeClr val="accent5">
                <a:lumMod val="75000"/>
              </a:schemeClr>
            </a:solidFill>
          </a:ln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s-MX" sz="4400" b="1" kern="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Introducción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s-ES" dirty="0"/>
              <a:t>Este banco de ejercicios presenta la implementación práctica de modelos estocásticos aplicados a dos áreas clave de la investigación de operaciones: las </a:t>
            </a:r>
            <a:r>
              <a:rPr lang="es-ES" b="1" dirty="0"/>
              <a:t>líneas de espera</a:t>
            </a:r>
            <a:r>
              <a:rPr lang="es-ES" dirty="0"/>
              <a:t> y los </a:t>
            </a:r>
            <a:r>
              <a:rPr lang="es-ES" b="1" dirty="0"/>
              <a:t>sistemas de inventarios</a:t>
            </a:r>
            <a:r>
              <a:rPr lang="es-ES" dirty="0"/>
              <a:t>. A través del desarrollo de programas interactivos en diversos entornos tecnológicos como </a:t>
            </a:r>
            <a:r>
              <a:rPr lang="es-ES" b="1" dirty="0"/>
              <a:t>R (</a:t>
            </a:r>
            <a:r>
              <a:rPr lang="es-ES" b="1" dirty="0" err="1"/>
              <a:t>Shiny</a:t>
            </a:r>
            <a:r>
              <a:rPr lang="es-ES" b="1" dirty="0"/>
              <a:t>)</a:t>
            </a:r>
            <a:r>
              <a:rPr lang="es-ES" dirty="0"/>
              <a:t>, </a:t>
            </a:r>
            <a:r>
              <a:rPr lang="es-ES" b="1" dirty="0"/>
              <a:t>Python</a:t>
            </a:r>
            <a:r>
              <a:rPr lang="es-ES" dirty="0"/>
              <a:t> e </a:t>
            </a:r>
            <a:r>
              <a:rPr lang="es-ES" b="1" dirty="0" err="1"/>
              <a:t>IntelliJ</a:t>
            </a:r>
            <a:r>
              <a:rPr lang="es-ES" b="1" dirty="0"/>
              <a:t> IDEA (Java)</a:t>
            </a:r>
            <a:r>
              <a:rPr lang="es-ES" dirty="0"/>
              <a:t>, se modela el comportamiento dinámico de fenómenos </a:t>
            </a:r>
            <a:r>
              <a:rPr lang="es-ES" dirty="0" smtClean="0"/>
              <a:t>reales, tales </a:t>
            </a:r>
            <a:r>
              <a:rPr lang="es-ES" dirty="0"/>
              <a:t>como la variabilidad en las llegadas de clientes, los tiempos de servicio, la fluctuación de la demanda diaria y los plazos de </a:t>
            </a:r>
            <a:r>
              <a:rPr lang="es-ES" dirty="0" smtClean="0"/>
              <a:t>reabastecimiento con </a:t>
            </a:r>
            <a:r>
              <a:rPr lang="es-ES" dirty="0"/>
              <a:t>el objetivo de evaluar múltiples escenarios operativos, identificar cuellos de botella y optimizar la toma de decisiones gerenciales.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60315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448F6C57-A8B1-DC96-5869-560383E7A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1884"/>
            <a:ext cx="10515600" cy="511507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MX" sz="4400" b="1" kern="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Objetivo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ES" dirty="0" smtClean="0"/>
              <a:t>Desarrollar </a:t>
            </a:r>
            <a:r>
              <a:rPr lang="es-ES" dirty="0"/>
              <a:t>un banco de ejercicios práctico mediante la implementación de varios programas en distintos lenguajes de programación, con el fin de evaluar su funcionamiento, comparar los resultados obtenidos y analizar el comportamiento de las simulaciones.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92662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4D3867A-3E04-8632-141B-8C5FDD171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MX" sz="4800" b="1" dirty="0" smtClean="0">
                <a:solidFill>
                  <a:srgbClr val="FF0000"/>
                </a:solidFill>
              </a:rPr>
              <a:t>JUSTIFICACION</a:t>
            </a:r>
            <a:endParaRPr lang="es-MX" sz="4800" b="1" dirty="0">
              <a:solidFill>
                <a:srgbClr val="FF0000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8CEA835B-7257-6BC0-9849-98A1416CE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dirty="0"/>
              <a:t>Hacer este banco de ejercicios es importante porque nos permite comparar cómo trabajan diferentes lenguajes de programación al resolver un mismo tipo de problema de simulación. </a:t>
            </a:r>
            <a:endParaRPr lang="es-ES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s-ES" dirty="0" smtClean="0"/>
              <a:t>Poner </a:t>
            </a:r>
            <a:r>
              <a:rPr lang="es-ES" dirty="0"/>
              <a:t>a prueba distintos programas nos ayuda a ver las ventajas de cada plataforma, entender mejor la lógica detrás de los modelos y adquirir más experiencia práctica aplicando la programación en situaciones reales.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27236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01DE5D6-4298-34BA-DF41-540FC843F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spcBef>
                <a:spcPts val="1000"/>
              </a:spcBef>
            </a:pPr>
            <a:r>
              <a:rPr lang="es-MX" b="1" dirty="0" smtClean="0">
                <a:solidFill>
                  <a:srgbClr val="FF0000"/>
                </a:solidFill>
              </a:rPr>
              <a:t> </a:t>
            </a:r>
            <a:r>
              <a:rPr lang="es-MX" sz="4000" b="1" dirty="0" smtClean="0">
                <a:solidFill>
                  <a:srgbClr val="FF0000"/>
                </a:solidFill>
              </a:rPr>
              <a:t>PROGRAMA 1 EN RSTUDIO (FILA_ESPERA)</a:t>
            </a:r>
            <a:r>
              <a:rPr lang="es-MX" b="1" dirty="0" smtClean="0">
                <a:solidFill>
                  <a:srgbClr val="FF0000"/>
                </a:solidFill>
              </a:rPr>
              <a:t/>
            </a:r>
            <a:br>
              <a:rPr lang="es-MX" b="1" dirty="0" smtClean="0">
                <a:solidFill>
                  <a:srgbClr val="FF0000"/>
                </a:solidFill>
              </a:rPr>
            </a:br>
            <a:r>
              <a:rPr lang="es-MX" b="1" dirty="0" smtClean="0">
                <a:solidFill>
                  <a:srgbClr val="FF0000"/>
                </a:solidFill>
              </a:rPr>
              <a:t>EJERCICIO 1 </a:t>
            </a:r>
            <a:endParaRPr lang="es-MX" b="1" kern="0" dirty="0">
              <a:solidFill>
                <a:srgbClr val="FF0000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A6FB474E-36FC-B9EC-4861-6A58FF06AFBA}"/>
              </a:ext>
            </a:extLst>
          </p:cNvPr>
          <p:cNvSpPr txBox="1"/>
          <p:nvPr/>
        </p:nvSpPr>
        <p:spPr>
          <a:xfrm>
            <a:off x="5991226" y="2057185"/>
            <a:ext cx="6096000" cy="2540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/>
              <a:t>Vista del panel interactivo mostrando los resultados tras procesar los 30 clientes con un intervalo promedio de llegada de 4 y un tiempo de atención de 5. Se observa una </a:t>
            </a:r>
            <a:r>
              <a:rPr lang="es-ES" b="1" dirty="0"/>
              <a:t>espera promedio de 38.33 minutos</a:t>
            </a:r>
            <a:r>
              <a:rPr lang="es-ES" dirty="0"/>
              <a:t>, un máximo en fila de 13 personas y un </a:t>
            </a:r>
            <a:r>
              <a:rPr lang="es-ES" b="1" dirty="0"/>
              <a:t>porcentaje de utilización del servidor de 96.9%</a:t>
            </a:r>
            <a:r>
              <a:rPr lang="es-ES" dirty="0"/>
              <a:t>, indicando una alta demanda en el sistema. </a:t>
            </a:r>
            <a:endParaRPr lang="es-MX" dirty="0">
              <a:latin typeface="Calibri (Cuerpo)"/>
            </a:endParaRPr>
          </a:p>
        </p:txBody>
      </p:sp>
      <p:pic>
        <p:nvPicPr>
          <p:cNvPr id="5" name="Imagen 4" descr="C:\Users\yaira\OneDrive\Pictures\Screenshots\Captura de pantalla (738)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096" y="1958861"/>
            <a:ext cx="5612130" cy="31565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3643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1395A1A-CBBD-4E49-9F35-5B60BAEF7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34FD310-3886-35C0-EB1E-4BBE6CC2D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spcBef>
                <a:spcPts val="1000"/>
              </a:spcBef>
            </a:pPr>
            <a:r>
              <a:rPr lang="es-ES" dirty="0" smtClean="0">
                <a:solidFill>
                  <a:srgbClr val="FF0000"/>
                </a:solidFill>
              </a:rPr>
              <a:t>EJERCICIO 2 </a:t>
            </a:r>
            <a:endParaRPr lang="es-MX" b="1" kern="0" dirty="0">
              <a:solidFill>
                <a:srgbClr val="FF0000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xmlns="" id="{303E5DCD-34DD-B099-1305-CECE47F30B66}"/>
              </a:ext>
            </a:extLst>
          </p:cNvPr>
          <p:cNvSpPr txBox="1"/>
          <p:nvPr/>
        </p:nvSpPr>
        <p:spPr>
          <a:xfrm>
            <a:off x="6383870" y="1840415"/>
            <a:ext cx="5591820" cy="2540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/>
              <a:t>Resultado de la segunda ejecución bajo los mismos parámetros de entrada, reflejando la variabilidad propia de los eventos aleatorios. En esta ocasión se registra una </a:t>
            </a:r>
            <a:r>
              <a:rPr lang="es-ES" b="1" dirty="0"/>
              <a:t>espera promedio de 27.83 minutos</a:t>
            </a:r>
            <a:r>
              <a:rPr lang="es-ES" dirty="0"/>
              <a:t>, una cola máxima de 12 clientes en espera y una </a:t>
            </a:r>
            <a:r>
              <a:rPr lang="es-ES" b="1" dirty="0"/>
              <a:t>utilización del servidor que asciende al 99%</a:t>
            </a:r>
            <a:r>
              <a:rPr lang="es-ES" dirty="0"/>
              <a:t>.</a:t>
            </a:r>
            <a:endParaRPr lang="es-MX" dirty="0">
              <a:latin typeface="Calibri (Cuerpo)"/>
            </a:endParaRPr>
          </a:p>
        </p:txBody>
      </p:sp>
      <p:pic>
        <p:nvPicPr>
          <p:cNvPr id="5" name="Imagen 4" descr="C:\Users\yaira\OneDrive\Pictures\Screenshots\Captura de pantalla (739)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064" y="1690688"/>
            <a:ext cx="5612130" cy="31565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2247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9ACFAC2-ADDA-D9A8-1B34-21419DD30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F7F54A-F493-E29D-7E3F-455B86E61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spcBef>
                <a:spcPts val="1000"/>
              </a:spcBef>
            </a:pPr>
            <a:r>
              <a:rPr lang="es-MX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EJERCICIO 3 </a:t>
            </a:r>
            <a:endParaRPr lang="es-MX" b="1" kern="0" dirty="0">
              <a:solidFill>
                <a:srgbClr val="FF0000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F1239412-1050-95BE-4AB9-ACF9026E9D1D}"/>
              </a:ext>
            </a:extLst>
          </p:cNvPr>
          <p:cNvSpPr txBox="1"/>
          <p:nvPr/>
        </p:nvSpPr>
        <p:spPr>
          <a:xfrm>
            <a:off x="6182033" y="1882777"/>
            <a:ext cx="5803490" cy="2540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/>
              <a:t>Vista de la aplicación durante la tercera iteración del modelo, donde la aleatoriedad genera un comportamiento más fluido en la atención. El panel indica una </a:t>
            </a:r>
            <a:r>
              <a:rPr lang="es-ES" b="1" dirty="0"/>
              <a:t>espera promedio reducida a 16.27 minutos</a:t>
            </a:r>
            <a:r>
              <a:rPr lang="es-ES" dirty="0"/>
              <a:t>, un máximo de 10 clientes formados y una </a:t>
            </a:r>
            <a:r>
              <a:rPr lang="es-ES" b="1" dirty="0"/>
              <a:t>utilización del servidor del 87.4%</a:t>
            </a:r>
            <a:r>
              <a:rPr lang="es-ES" dirty="0"/>
              <a:t>, clasificada como ocupación media.</a:t>
            </a:r>
            <a:endParaRPr lang="es-MX" dirty="0">
              <a:latin typeface="Calibri (Cuerpo)"/>
            </a:endParaRPr>
          </a:p>
        </p:txBody>
      </p:sp>
      <p:pic>
        <p:nvPicPr>
          <p:cNvPr id="7" name="Imagen 6" descr="C:\Users\yaira\OneDrive\Pictures\Screenshots\Captura de pantalla (740)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70" y="1882777"/>
            <a:ext cx="5612130" cy="31565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83797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9ACFAC2-ADDA-D9A8-1B34-21419DD30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F7F54A-F493-E29D-7E3F-455B86E61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spcBef>
                <a:spcPts val="1000"/>
              </a:spcBef>
            </a:pPr>
            <a:r>
              <a:rPr lang="es-MX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EJERCICIO </a:t>
            </a:r>
            <a:r>
              <a:rPr lang="es-MX" b="1" kern="0" dirty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4</a:t>
            </a:r>
            <a:r>
              <a:rPr lang="es-MX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 </a:t>
            </a:r>
            <a:endParaRPr lang="es-MX" b="1" kern="0" dirty="0">
              <a:solidFill>
                <a:srgbClr val="FF0000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F1239412-1050-95BE-4AB9-ACF9026E9D1D}"/>
              </a:ext>
            </a:extLst>
          </p:cNvPr>
          <p:cNvSpPr txBox="1"/>
          <p:nvPr/>
        </p:nvSpPr>
        <p:spPr>
          <a:xfrm>
            <a:off x="6096000" y="2335060"/>
            <a:ext cx="5803490" cy="2125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/>
              <a:t>Panel de resultados correspondiente a la cuarta ejecución del programa en R. Los indicadores muestran una </a:t>
            </a:r>
            <a:r>
              <a:rPr lang="es-ES" b="1" dirty="0"/>
              <a:t>espera promedio de 12.23 minutos</a:t>
            </a:r>
            <a:r>
              <a:rPr lang="es-ES" dirty="0"/>
              <a:t> (la más baja de la serie), un pico máximo de 7 clientes en fila y una </a:t>
            </a:r>
            <a:r>
              <a:rPr lang="es-ES" b="1" dirty="0"/>
              <a:t>utilización del servidor de 98.4%</a:t>
            </a:r>
            <a:r>
              <a:rPr lang="es-ES" dirty="0"/>
              <a:t>. </a:t>
            </a:r>
            <a:endParaRPr lang="es-MX" dirty="0">
              <a:latin typeface="Calibri (Cuerpo)"/>
            </a:endParaRPr>
          </a:p>
        </p:txBody>
      </p:sp>
      <p:pic>
        <p:nvPicPr>
          <p:cNvPr id="4" name="Imagen 3" descr="C:\Users\yaira\OneDrive\Pictures\Screenshots\Captura de pantalla (741)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760" y="1990266"/>
            <a:ext cx="5612130" cy="31565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2926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9ACFAC2-ADDA-D9A8-1B34-21419DD30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F7F54A-F493-E29D-7E3F-455B86E61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spcBef>
                <a:spcPts val="1000"/>
              </a:spcBef>
            </a:pPr>
            <a:r>
              <a:rPr lang="es-MX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EJERCICIO </a:t>
            </a:r>
            <a:r>
              <a:rPr lang="es-MX" b="1" kern="0" dirty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5</a:t>
            </a:r>
            <a:r>
              <a:rPr lang="es-MX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 </a:t>
            </a:r>
            <a:endParaRPr lang="es-MX" b="1" kern="0" dirty="0">
              <a:solidFill>
                <a:srgbClr val="FF0000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F1239412-1050-95BE-4AB9-ACF9026E9D1D}"/>
              </a:ext>
            </a:extLst>
          </p:cNvPr>
          <p:cNvSpPr txBox="1"/>
          <p:nvPr/>
        </p:nvSpPr>
        <p:spPr>
          <a:xfrm>
            <a:off x="6096000" y="2236738"/>
            <a:ext cx="5803490" cy="2125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/>
              <a:t>Vista final de la quinta iteración del simulador de línea de espera. Se registra una </a:t>
            </a:r>
            <a:r>
              <a:rPr lang="es-ES" b="1" dirty="0"/>
              <a:t>espera promedio de 42.47 minutos</a:t>
            </a:r>
            <a:r>
              <a:rPr lang="es-ES" dirty="0"/>
              <a:t>, un máximo acumulado de 17 personas en cola y una </a:t>
            </a:r>
            <a:r>
              <a:rPr lang="es-ES" b="1" dirty="0"/>
              <a:t>utilización del servidor de 98.9%</a:t>
            </a:r>
            <a:r>
              <a:rPr lang="es-ES" dirty="0"/>
              <a:t>, evidenciando un escenario de saturación alta dentro del sistema. </a:t>
            </a:r>
            <a:endParaRPr lang="es-MX" dirty="0">
              <a:latin typeface="Calibri (Cuerpo)"/>
            </a:endParaRPr>
          </a:p>
        </p:txBody>
      </p:sp>
      <p:pic>
        <p:nvPicPr>
          <p:cNvPr id="4" name="Imagen 3" descr="C:\Users\yaira\OneDrive\Pictures\Screenshots\Captura de pantalla (742)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251" y="1990266"/>
            <a:ext cx="5612130" cy="31565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3473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8FFA3E9-5E2A-8B5F-BDB1-14655282F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EE8D702-AA60-3FD8-ACFC-5FAB51EDC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spcBef>
                <a:spcPts val="1000"/>
              </a:spcBef>
            </a:pPr>
            <a:r>
              <a:rPr lang="es-MX" sz="2800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PROGRAMA 2 EN RSTUDIO SISTEMA_INVENTARIOS</a:t>
            </a:r>
            <a:r>
              <a:rPr lang="es-MX" sz="2800" b="1" kern="0" dirty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/>
            </a:r>
            <a:br>
              <a:rPr lang="es-MX" sz="2800" b="1" kern="0" dirty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</a:br>
            <a:r>
              <a:rPr lang="es-MX" sz="2800" dirty="0" smtClean="0">
                <a:solidFill>
                  <a:srgbClr val="FF0000"/>
                </a:solidFill>
              </a:rPr>
              <a:t>EJERCICIO 1</a:t>
            </a:r>
            <a:endParaRPr lang="es-MX" sz="2800" b="1" kern="0" dirty="0">
              <a:solidFill>
                <a:srgbClr val="FF0000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95427041-8F85-640F-6CB5-7659BACC4C7A}"/>
              </a:ext>
            </a:extLst>
          </p:cNvPr>
          <p:cNvSpPr txBox="1"/>
          <p:nvPr/>
        </p:nvSpPr>
        <p:spPr>
          <a:xfrm>
            <a:off x="6011381" y="1986854"/>
            <a:ext cx="6180619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/>
              <a:t>Vista del panel de resultados tras procesar los 30 días de simulación con una demanda promedio diaria de 15 unidades y un punto de </a:t>
            </a:r>
            <a:r>
              <a:rPr lang="es-ES" dirty="0" err="1"/>
              <a:t>reorden</a:t>
            </a:r>
            <a:r>
              <a:rPr lang="es-ES" dirty="0"/>
              <a:t> de 30. Se registra un </a:t>
            </a:r>
            <a:r>
              <a:rPr lang="es-ES" b="1" dirty="0"/>
              <a:t>inventario final de 44 unidades</a:t>
            </a:r>
            <a:r>
              <a:rPr lang="es-ES" dirty="0"/>
              <a:t>, una demanda total de 456 unidades, 5 reabastecimientos y </a:t>
            </a:r>
            <a:r>
              <a:rPr lang="es-ES" b="1" dirty="0"/>
              <a:t>0 días con desabasto</a:t>
            </a:r>
            <a:r>
              <a:rPr lang="es-ES" dirty="0"/>
              <a:t>, mostrando un estado estable sin quiebres de stock. </a:t>
            </a:r>
            <a:endParaRPr lang="es-MX" dirty="0"/>
          </a:p>
        </p:txBody>
      </p:sp>
      <p:pic>
        <p:nvPicPr>
          <p:cNvPr id="5" name="Imagen 4" descr="C:\Users\yaira\OneDrive\Pictures\Screenshots\Captura de pantalla (743)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97" y="1772049"/>
            <a:ext cx="5612130" cy="31565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2342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8FFA3E9-5E2A-8B5F-BDB1-14655282F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EE8D702-AA60-3FD8-ACFC-5FAB51EDC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877" y="266802"/>
            <a:ext cx="10515600" cy="1325563"/>
          </a:xfrm>
        </p:spPr>
        <p:txBody>
          <a:bodyPr>
            <a:normAutofit/>
          </a:bodyPr>
          <a:lstStyle/>
          <a:p>
            <a:pPr algn="ctr">
              <a:spcBef>
                <a:spcPts val="1000"/>
              </a:spcBef>
            </a:pPr>
            <a:r>
              <a:rPr lang="es-MX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EJERCICIO 2 </a:t>
            </a:r>
            <a:endParaRPr lang="es-MX" b="1" kern="0" dirty="0">
              <a:solidFill>
                <a:srgbClr val="FF0000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95427041-8F85-640F-6CB5-7659BACC4C7A}"/>
              </a:ext>
            </a:extLst>
          </p:cNvPr>
          <p:cNvSpPr txBox="1"/>
          <p:nvPr/>
        </p:nvSpPr>
        <p:spPr>
          <a:xfrm>
            <a:off x="5978013" y="1862566"/>
            <a:ext cx="6145161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/>
              <a:t>Resultado de la segunda ejecución de la simulación de reabastecimiento en R. El panel gráfico muestra un </a:t>
            </a:r>
            <a:r>
              <a:rPr lang="es-ES" b="1" dirty="0"/>
              <a:t>inventario final de 51 unidades</a:t>
            </a:r>
            <a:r>
              <a:rPr lang="es-ES" dirty="0"/>
              <a:t>, una demanda total acumulada de 456 unidades, 5 pedidos realizados y </a:t>
            </a:r>
            <a:r>
              <a:rPr lang="es-ES" b="1" dirty="0"/>
              <a:t>0 días de desabasto</a:t>
            </a:r>
            <a:r>
              <a:rPr lang="es-ES" dirty="0"/>
              <a:t>, manteniendo la estabilidad operativa del sistema.</a:t>
            </a:r>
            <a:endParaRPr lang="es-MX" dirty="0"/>
          </a:p>
        </p:txBody>
      </p:sp>
      <p:pic>
        <p:nvPicPr>
          <p:cNvPr id="5" name="Imagen 4" descr="C:\Users\yaira\OneDrive\Pictures\Screenshots\Captura de pantalla (744)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00" y="1703223"/>
            <a:ext cx="5612130" cy="31565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4135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8FFA3E9-5E2A-8B5F-BDB1-14655282F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EE8D702-AA60-3FD8-ACFC-5FAB51EDC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877" y="266802"/>
            <a:ext cx="10515600" cy="1325563"/>
          </a:xfrm>
        </p:spPr>
        <p:txBody>
          <a:bodyPr>
            <a:normAutofit/>
          </a:bodyPr>
          <a:lstStyle/>
          <a:p>
            <a:pPr algn="ctr">
              <a:spcBef>
                <a:spcPts val="1000"/>
              </a:spcBef>
            </a:pPr>
            <a:r>
              <a:rPr lang="es-MX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EJERCICIO </a:t>
            </a:r>
            <a:r>
              <a:rPr lang="es-MX" b="1" kern="0" dirty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3</a:t>
            </a:r>
            <a:r>
              <a:rPr lang="es-MX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 </a:t>
            </a:r>
            <a:endParaRPr lang="es-MX" b="1" kern="0" dirty="0">
              <a:solidFill>
                <a:srgbClr val="FF0000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95427041-8F85-640F-6CB5-7659BACC4C7A}"/>
              </a:ext>
            </a:extLst>
          </p:cNvPr>
          <p:cNvSpPr txBox="1"/>
          <p:nvPr/>
        </p:nvSpPr>
        <p:spPr>
          <a:xfrm>
            <a:off x="5978013" y="1862566"/>
            <a:ext cx="6145161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/>
              <a:t>Vista de la aplicación durante la tercera iteración del modelo estocástico de inventarios. La interfaz muestra </a:t>
            </a:r>
            <a:r>
              <a:rPr lang="es-ES" b="1" dirty="0"/>
              <a:t>28 unidades disponibles</a:t>
            </a:r>
            <a:r>
              <a:rPr lang="es-ES" dirty="0"/>
              <a:t> al cierre, generando una </a:t>
            </a:r>
            <a:r>
              <a:rPr lang="es-ES" b="1" dirty="0"/>
              <a:t>alerta visual de inventario bajo</a:t>
            </a:r>
            <a:r>
              <a:rPr lang="es-ES" dirty="0"/>
              <a:t> que recomienda revisar el nivel de existencias, reflejando la fluctuación diaria de la demanda. </a:t>
            </a:r>
            <a:endParaRPr lang="es-MX" dirty="0"/>
          </a:p>
        </p:txBody>
      </p:sp>
      <p:pic>
        <p:nvPicPr>
          <p:cNvPr id="4" name="Imagen 3" descr="C:\Users\yaira\OneDrive\Pictures\Screenshots\Captura de pantalla (745)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599" y="1772049"/>
            <a:ext cx="5612130" cy="31565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67379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8FFA3E9-5E2A-8B5F-BDB1-14655282F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EE8D702-AA60-3FD8-ACFC-5FAB51EDC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877" y="266802"/>
            <a:ext cx="10515600" cy="1325563"/>
          </a:xfrm>
        </p:spPr>
        <p:txBody>
          <a:bodyPr>
            <a:normAutofit/>
          </a:bodyPr>
          <a:lstStyle/>
          <a:p>
            <a:pPr algn="ctr">
              <a:spcBef>
                <a:spcPts val="1000"/>
              </a:spcBef>
            </a:pPr>
            <a:r>
              <a:rPr lang="es-MX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EJERCICIO </a:t>
            </a:r>
            <a:r>
              <a:rPr lang="es-MX" b="1" kern="0" dirty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4</a:t>
            </a:r>
            <a:r>
              <a:rPr lang="es-MX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 </a:t>
            </a:r>
            <a:endParaRPr lang="es-MX" b="1" kern="0" dirty="0">
              <a:solidFill>
                <a:srgbClr val="FF0000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95427041-8F85-640F-6CB5-7659BACC4C7A}"/>
              </a:ext>
            </a:extLst>
          </p:cNvPr>
          <p:cNvSpPr txBox="1"/>
          <p:nvPr/>
        </p:nvSpPr>
        <p:spPr>
          <a:xfrm>
            <a:off x="5978013" y="1862566"/>
            <a:ext cx="6145161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/>
              <a:t>Panel de resultados correspondiente a la cuarta ejecución del programa de inventarios en R </a:t>
            </a:r>
            <a:r>
              <a:rPr lang="es-ES" dirty="0" err="1"/>
              <a:t>Shiny</a:t>
            </a:r>
            <a:r>
              <a:rPr lang="es-ES" dirty="0"/>
              <a:t>. Los indicadores muestran un </a:t>
            </a:r>
            <a:r>
              <a:rPr lang="es-ES" b="1" dirty="0"/>
              <a:t>inventario final de 49 unidades</a:t>
            </a:r>
            <a:r>
              <a:rPr lang="es-ES" dirty="0"/>
              <a:t>, una demanda total de 451 unidades, 5 reabastecimientos completados y </a:t>
            </a:r>
            <a:r>
              <a:rPr lang="es-ES" b="1" dirty="0"/>
              <a:t>0 días con desabasto</a:t>
            </a:r>
            <a:r>
              <a:rPr lang="es-ES" dirty="0"/>
              <a:t>, confirmando un comportamiento estable. </a:t>
            </a:r>
            <a:endParaRPr lang="es-MX" dirty="0"/>
          </a:p>
        </p:txBody>
      </p:sp>
      <p:pic>
        <p:nvPicPr>
          <p:cNvPr id="4" name="Imagen 3" descr="C:\Users\yaira\OneDrive\Pictures\Screenshots\Captura de pantalla (746)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051" y="1592365"/>
            <a:ext cx="5612130" cy="31565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7604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8FFA3E9-5E2A-8B5F-BDB1-14655282F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EE8D702-AA60-3FD8-ACFC-5FAB51EDC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877" y="266802"/>
            <a:ext cx="10515600" cy="1325563"/>
          </a:xfrm>
        </p:spPr>
        <p:txBody>
          <a:bodyPr>
            <a:normAutofit/>
          </a:bodyPr>
          <a:lstStyle/>
          <a:p>
            <a:pPr algn="ctr">
              <a:spcBef>
                <a:spcPts val="1000"/>
              </a:spcBef>
            </a:pPr>
            <a:r>
              <a:rPr lang="es-MX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EJERCICIO </a:t>
            </a:r>
            <a:r>
              <a:rPr lang="es-MX" b="1" kern="0" dirty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5</a:t>
            </a:r>
            <a:r>
              <a:rPr lang="es-MX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 </a:t>
            </a:r>
            <a:endParaRPr lang="es-MX" b="1" kern="0" dirty="0">
              <a:solidFill>
                <a:srgbClr val="FF0000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95427041-8F85-640F-6CB5-7659BACC4C7A}"/>
              </a:ext>
            </a:extLst>
          </p:cNvPr>
          <p:cNvSpPr txBox="1"/>
          <p:nvPr/>
        </p:nvSpPr>
        <p:spPr>
          <a:xfrm>
            <a:off x="6046839" y="2334514"/>
            <a:ext cx="6145161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/>
              <a:t>Vista final de la quinta iteración del simulador de control de inventarios. El sistema registra un </a:t>
            </a:r>
            <a:r>
              <a:rPr lang="es-ES" b="1" dirty="0"/>
              <a:t>inventario final de 53 unidades</a:t>
            </a:r>
            <a:r>
              <a:rPr lang="es-ES" dirty="0"/>
              <a:t> disponibles, 5 pedidos procesados y </a:t>
            </a:r>
            <a:r>
              <a:rPr lang="es-ES" b="1" dirty="0"/>
              <a:t>0 días con desabasto</a:t>
            </a:r>
            <a:r>
              <a:rPr lang="es-ES" dirty="0"/>
              <a:t>, validando la efectividad de la política de reabastecimiento bajo condiciones de demanda aleatoria. </a:t>
            </a:r>
            <a:endParaRPr lang="es-MX" dirty="0"/>
          </a:p>
        </p:txBody>
      </p:sp>
      <p:pic>
        <p:nvPicPr>
          <p:cNvPr id="4" name="Imagen 3" descr="C:\Users\yaira\OneDrive\Pictures\Screenshots\Captura de pantalla (747)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883" y="2047352"/>
            <a:ext cx="5612130" cy="31565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8704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8FFA3E9-5E2A-8B5F-BDB1-14655282F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EE8D702-AA60-3FD8-ACFC-5FAB51EDC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spcBef>
                <a:spcPts val="1000"/>
              </a:spcBef>
            </a:pPr>
            <a:r>
              <a:rPr lang="es-MX" sz="3200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PROGRAMA 1 EN PYTHON FILA_ESPERA</a:t>
            </a:r>
            <a:br>
              <a:rPr lang="es-MX" sz="3200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</a:br>
            <a:r>
              <a:rPr lang="es-MX" sz="3200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EJERCICIO 1</a:t>
            </a:r>
            <a:br>
              <a:rPr lang="es-MX" sz="3200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</a:br>
            <a:r>
              <a:rPr lang="es-MX" sz="3200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 </a:t>
            </a:r>
            <a:endParaRPr lang="es-MX" sz="3200" b="1" kern="0" dirty="0">
              <a:solidFill>
                <a:srgbClr val="FF0000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95427041-8F85-640F-6CB5-7659BACC4C7A}"/>
              </a:ext>
            </a:extLst>
          </p:cNvPr>
          <p:cNvSpPr txBox="1"/>
          <p:nvPr/>
        </p:nvSpPr>
        <p:spPr>
          <a:xfrm>
            <a:off x="6096000" y="1690688"/>
            <a:ext cx="5955173" cy="295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/>
              <a:t>Vista de la interfaz gráfica en Python mostrando los resultados tras procesar 30 clientes con una llegada promedio de 4 y servicio promedio de 5. Se registra una </a:t>
            </a:r>
            <a:r>
              <a:rPr lang="es-ES" b="1" dirty="0"/>
              <a:t>espera promedio de 33.39 minutos</a:t>
            </a:r>
            <a:r>
              <a:rPr lang="es-ES" dirty="0"/>
              <a:t>, un máximo en fila de 12 personas y un </a:t>
            </a:r>
            <a:r>
              <a:rPr lang="es-ES" b="1" dirty="0"/>
              <a:t>porcentaje de utilización del servidor de 97.5%</a:t>
            </a:r>
            <a:r>
              <a:rPr lang="es-ES" dirty="0"/>
              <a:t>, reflejando un nivel elevado de ocupación en el sistema.</a:t>
            </a:r>
            <a:endParaRPr lang="es-MX" dirty="0"/>
          </a:p>
        </p:txBody>
      </p:sp>
      <p:pic>
        <p:nvPicPr>
          <p:cNvPr id="4" name="Imagen 3" descr="C:\Users\yaira\OneDrive\Pictures\Screenshots\Captura de pantalla (748)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1591326"/>
            <a:ext cx="5612130" cy="31565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65983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8FFA3E9-5E2A-8B5F-BDB1-14655282F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EE8D702-AA60-3FD8-ACFC-5FAB51EDC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spcBef>
                <a:spcPts val="1000"/>
              </a:spcBef>
            </a:pPr>
            <a:r>
              <a:rPr lang="es-MX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EJERCICIO 2 </a:t>
            </a:r>
            <a:endParaRPr lang="es-MX" b="1" kern="0" dirty="0">
              <a:solidFill>
                <a:srgbClr val="FF0000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95427041-8F85-640F-6CB5-7659BACC4C7A}"/>
              </a:ext>
            </a:extLst>
          </p:cNvPr>
          <p:cNvSpPr txBox="1"/>
          <p:nvPr/>
        </p:nvSpPr>
        <p:spPr>
          <a:xfrm>
            <a:off x="5948516" y="1690688"/>
            <a:ext cx="5994502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/>
              <a:t>Resultado de la segunda ejecución del programa en Python bajo los mismos parámetros de entrada. Los indicadores muestran una </a:t>
            </a:r>
            <a:r>
              <a:rPr lang="es-ES" b="1" dirty="0"/>
              <a:t>espera promedio reducida a 13.21 minutos</a:t>
            </a:r>
            <a:r>
              <a:rPr lang="es-ES" dirty="0"/>
              <a:t>, una cola máxima de 9 clientes y una </a:t>
            </a:r>
            <a:r>
              <a:rPr lang="es-ES" b="1" dirty="0"/>
              <a:t>utilización del servidor del 78.6%</a:t>
            </a:r>
            <a:r>
              <a:rPr lang="es-ES" dirty="0"/>
              <a:t>, evidenciando un comportamiento más fluido en la atención. </a:t>
            </a:r>
            <a:endParaRPr lang="es-MX" dirty="0"/>
          </a:p>
        </p:txBody>
      </p:sp>
      <p:pic>
        <p:nvPicPr>
          <p:cNvPr id="4" name="Imagen 3" descr="C:\Users\yaira\OneDrive\Pictures\Screenshots\Captura de pantalla (749)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982" y="1690688"/>
            <a:ext cx="5612130" cy="31565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653313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8FFA3E9-5E2A-8B5F-BDB1-14655282F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EE8D702-AA60-3FD8-ACFC-5FAB51EDC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735" y="276635"/>
            <a:ext cx="10515600" cy="1325563"/>
          </a:xfrm>
        </p:spPr>
        <p:txBody>
          <a:bodyPr/>
          <a:lstStyle/>
          <a:p>
            <a:pPr algn="ctr">
              <a:spcBef>
                <a:spcPts val="1000"/>
              </a:spcBef>
            </a:pPr>
            <a:r>
              <a:rPr lang="es-MX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EJERCICIO 3 </a:t>
            </a:r>
            <a:endParaRPr lang="es-MX" b="1" kern="0" dirty="0">
              <a:solidFill>
                <a:srgbClr val="FF0000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95427041-8F85-640F-6CB5-7659BACC4C7A}"/>
              </a:ext>
            </a:extLst>
          </p:cNvPr>
          <p:cNvSpPr txBox="1"/>
          <p:nvPr/>
        </p:nvSpPr>
        <p:spPr>
          <a:xfrm>
            <a:off x="5903227" y="1945867"/>
            <a:ext cx="6141290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/>
              <a:t>Vista de la aplicación durante la tercera iteración del modelo de filas en Python. El panel indica una </a:t>
            </a:r>
            <a:r>
              <a:rPr lang="es-ES" b="1" dirty="0"/>
              <a:t>espera promedio de 14.20 minutos</a:t>
            </a:r>
            <a:r>
              <a:rPr lang="es-ES" dirty="0"/>
              <a:t>, un máximo acumulado de 13 personas en fila y una </a:t>
            </a:r>
            <a:r>
              <a:rPr lang="es-ES" b="1" dirty="0"/>
              <a:t>utilización del servidor del 87.6%</a:t>
            </a:r>
            <a:r>
              <a:rPr lang="es-ES" dirty="0"/>
              <a:t>, junto con una gráfica detallada de la fluctuación del sistema a lo largo del tiempo de simulación. </a:t>
            </a:r>
            <a:endParaRPr lang="es-MX" dirty="0"/>
          </a:p>
        </p:txBody>
      </p:sp>
      <p:pic>
        <p:nvPicPr>
          <p:cNvPr id="4" name="Imagen 3" descr="C:\Users\yaira\OneDrive\Pictures\Screenshots\Captura de pantalla (750)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634" y="1945867"/>
            <a:ext cx="5612130" cy="31565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77820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8FFA3E9-5E2A-8B5F-BDB1-14655282F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EE8D702-AA60-3FD8-ACFC-5FAB51EDC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735" y="276635"/>
            <a:ext cx="10515600" cy="1325563"/>
          </a:xfrm>
        </p:spPr>
        <p:txBody>
          <a:bodyPr/>
          <a:lstStyle/>
          <a:p>
            <a:pPr algn="ctr">
              <a:spcBef>
                <a:spcPts val="1000"/>
              </a:spcBef>
            </a:pPr>
            <a:r>
              <a:rPr lang="es-MX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EJERCICIO 4 </a:t>
            </a:r>
            <a:endParaRPr lang="es-MX" b="1" kern="0" dirty="0">
              <a:solidFill>
                <a:srgbClr val="FF0000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95427041-8F85-640F-6CB5-7659BACC4C7A}"/>
              </a:ext>
            </a:extLst>
          </p:cNvPr>
          <p:cNvSpPr txBox="1"/>
          <p:nvPr/>
        </p:nvSpPr>
        <p:spPr>
          <a:xfrm>
            <a:off x="5893394" y="2516138"/>
            <a:ext cx="6141290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/>
              <a:t>Panel de resultados correspondiente a la cuarta ejecución del software en Python. Se observa una </a:t>
            </a:r>
            <a:r>
              <a:rPr lang="es-ES" b="1" dirty="0"/>
              <a:t>espera promedio de 9.45 minutos</a:t>
            </a:r>
            <a:r>
              <a:rPr lang="es-ES" dirty="0"/>
              <a:t> (una de las más bajas del bloque), un máximo de 6 clientes formados y una </a:t>
            </a:r>
            <a:r>
              <a:rPr lang="es-ES" b="1" dirty="0"/>
              <a:t>utilización del servidor del 80.4%</a:t>
            </a:r>
            <a:r>
              <a:rPr lang="es-ES" dirty="0"/>
              <a:t>. </a:t>
            </a:r>
            <a:endParaRPr lang="es-MX" dirty="0"/>
          </a:p>
        </p:txBody>
      </p:sp>
      <p:pic>
        <p:nvPicPr>
          <p:cNvPr id="4" name="Imagen 3" descr="C:\Users\yaira\OneDrive\Pictures\Screenshots\Captura de pantalla (751)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264" y="1978526"/>
            <a:ext cx="5612130" cy="31565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10484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8FFA3E9-5E2A-8B5F-BDB1-14655282F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EE8D702-AA60-3FD8-ACFC-5FAB51EDC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735" y="276635"/>
            <a:ext cx="10515600" cy="1325563"/>
          </a:xfrm>
        </p:spPr>
        <p:txBody>
          <a:bodyPr/>
          <a:lstStyle/>
          <a:p>
            <a:pPr algn="ctr">
              <a:spcBef>
                <a:spcPts val="1000"/>
              </a:spcBef>
            </a:pPr>
            <a:r>
              <a:rPr lang="es-MX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EJERCICIO 5 </a:t>
            </a:r>
            <a:endParaRPr lang="es-MX" b="1" kern="0" dirty="0">
              <a:solidFill>
                <a:srgbClr val="FF0000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95427041-8F85-640F-6CB5-7659BACC4C7A}"/>
              </a:ext>
            </a:extLst>
          </p:cNvPr>
          <p:cNvSpPr txBox="1"/>
          <p:nvPr/>
        </p:nvSpPr>
        <p:spPr>
          <a:xfrm>
            <a:off x="5883562" y="1601738"/>
            <a:ext cx="6141290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/>
              <a:t>Vista final de la quinta iteración del simulador de línea de espera en Python. Los datos reflejan una </a:t>
            </a:r>
            <a:r>
              <a:rPr lang="es-ES" b="1" dirty="0"/>
              <a:t>espera promedio de 8.07 minutos</a:t>
            </a:r>
            <a:r>
              <a:rPr lang="es-ES" dirty="0"/>
              <a:t>, un pico máximo de 6 personas en cola y una </a:t>
            </a:r>
            <a:r>
              <a:rPr lang="es-ES" b="1" dirty="0"/>
              <a:t>utilización del servidor del 91.4%</a:t>
            </a:r>
            <a:r>
              <a:rPr lang="es-ES" dirty="0"/>
              <a:t>, validando la estabilidad operativa del modelo estocástico.</a:t>
            </a:r>
            <a:endParaRPr lang="es-MX" dirty="0"/>
          </a:p>
        </p:txBody>
      </p:sp>
      <p:pic>
        <p:nvPicPr>
          <p:cNvPr id="4" name="Imagen 3" descr="C:\Users\yaira\OneDrive\Pictures\Screenshots\Captura de pantalla (752)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405" y="1693390"/>
            <a:ext cx="5612130" cy="31565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612130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8FFA3E9-5E2A-8B5F-BDB1-14655282F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EE8D702-AA60-3FD8-ACFC-5FAB51EDC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spcBef>
                <a:spcPts val="1000"/>
              </a:spcBef>
            </a:pPr>
            <a:r>
              <a:rPr lang="es-MX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PROGRAMA 2 EN PYTHON SISTEMA_INVENTARIO</a:t>
            </a:r>
            <a:br>
              <a:rPr lang="es-MX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</a:br>
            <a:r>
              <a:rPr lang="es-MX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 EJERCICIO 1</a:t>
            </a:r>
            <a:endParaRPr lang="es-MX" b="1" kern="0" dirty="0">
              <a:solidFill>
                <a:srgbClr val="FF0000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95427041-8F85-640F-6CB5-7659BACC4C7A}"/>
              </a:ext>
            </a:extLst>
          </p:cNvPr>
          <p:cNvSpPr txBox="1"/>
          <p:nvPr/>
        </p:nvSpPr>
        <p:spPr>
          <a:xfrm>
            <a:off x="5952388" y="2201965"/>
            <a:ext cx="5863938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/>
              <a:t>Vista de la interfaz gráfica en Python mostrando los resultados tras procesar los 30 días de simulación con los parámetros preestablecidos. Se registra un </a:t>
            </a:r>
            <a:r>
              <a:rPr lang="es-ES" b="1" dirty="0"/>
              <a:t>inventario final de 52 unidades</a:t>
            </a:r>
            <a:r>
              <a:rPr lang="es-ES" dirty="0"/>
              <a:t>, una demanda total de 448 unidades, 5 pedidos y </a:t>
            </a:r>
            <a:r>
              <a:rPr lang="es-ES" b="1" dirty="0"/>
              <a:t>0 días con desabasto</a:t>
            </a:r>
            <a:r>
              <a:rPr lang="es-ES" dirty="0"/>
              <a:t>, indicando un comportamiento estable en el sistema.</a:t>
            </a:r>
            <a:endParaRPr lang="es-MX" dirty="0"/>
          </a:p>
        </p:txBody>
      </p:sp>
      <p:pic>
        <p:nvPicPr>
          <p:cNvPr id="4" name="Imagen 3" descr="C:\Users\yaira\OneDrive\Pictures\Screenshots\Captura de pantalla (753)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35" y="1988358"/>
            <a:ext cx="5612130" cy="31565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91448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8FFA3E9-5E2A-8B5F-BDB1-14655282F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EE8D702-AA60-3FD8-ACFC-5FAB51EDC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spcBef>
                <a:spcPts val="1000"/>
              </a:spcBef>
            </a:pPr>
            <a:r>
              <a:rPr lang="es-MX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EJERCICIO 2</a:t>
            </a:r>
            <a:endParaRPr lang="es-MX" b="1" kern="0" dirty="0">
              <a:solidFill>
                <a:srgbClr val="FF0000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95427041-8F85-640F-6CB5-7659BACC4C7A}"/>
              </a:ext>
            </a:extLst>
          </p:cNvPr>
          <p:cNvSpPr txBox="1"/>
          <p:nvPr/>
        </p:nvSpPr>
        <p:spPr>
          <a:xfrm>
            <a:off x="5883561" y="2211797"/>
            <a:ext cx="5964309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/>
              <a:t>Resultado de la segunda ejecución del modelo en Python. La interfaz muestra un </a:t>
            </a:r>
            <a:r>
              <a:rPr lang="es-ES" b="1" dirty="0"/>
              <a:t>inventario final de 71 unidades</a:t>
            </a:r>
            <a:r>
              <a:rPr lang="es-ES" dirty="0"/>
              <a:t>, una demanda total de 435 unidades, 5 pedidos y </a:t>
            </a:r>
            <a:r>
              <a:rPr lang="es-ES" b="1" dirty="0"/>
              <a:t>1 día con desabasto</a:t>
            </a:r>
            <a:r>
              <a:rPr lang="es-ES" dirty="0"/>
              <a:t> (registrando un déficit de 6 unidades), lo que activa la alerta visual de quiebre de stock.</a:t>
            </a:r>
            <a:endParaRPr lang="es-MX" dirty="0"/>
          </a:p>
        </p:txBody>
      </p:sp>
      <p:pic>
        <p:nvPicPr>
          <p:cNvPr id="4" name="Imagen 3" descr="C:\Users\yaira\OneDrive\Pictures\Screenshots\Captura de pantalla (754)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31" y="1939198"/>
            <a:ext cx="5612130" cy="31565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018460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8FFA3E9-5E2A-8B5F-BDB1-14655282F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EE8D702-AA60-3FD8-ACFC-5FAB51EDC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spcBef>
                <a:spcPts val="1000"/>
              </a:spcBef>
            </a:pPr>
            <a:r>
              <a:rPr lang="es-MX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EJERCICIO 3</a:t>
            </a:r>
            <a:endParaRPr lang="es-MX" b="1" kern="0" dirty="0">
              <a:solidFill>
                <a:srgbClr val="FF0000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95427041-8F85-640F-6CB5-7659BACC4C7A}"/>
              </a:ext>
            </a:extLst>
          </p:cNvPr>
          <p:cNvSpPr txBox="1"/>
          <p:nvPr/>
        </p:nvSpPr>
        <p:spPr>
          <a:xfrm>
            <a:off x="5907806" y="2076775"/>
            <a:ext cx="6117046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/>
              <a:t>Vista de la aplicación durante la tercera iteración del simulador de inventarios. Los indicadores reflejan un </a:t>
            </a:r>
            <a:r>
              <a:rPr lang="es-ES" b="1" dirty="0"/>
              <a:t>inventario final de 75 unidades</a:t>
            </a:r>
            <a:r>
              <a:rPr lang="es-ES" dirty="0"/>
              <a:t>, una demanda total de 428 unidades, 5 reabastecimientos y </a:t>
            </a:r>
            <a:r>
              <a:rPr lang="es-ES" b="1" dirty="0"/>
              <a:t>1 día con desabasto</a:t>
            </a:r>
            <a:r>
              <a:rPr lang="es-ES" dirty="0"/>
              <a:t> (con un déficit de 3 unidades), evidenciando la fluctuación diaria del stock. </a:t>
            </a:r>
            <a:endParaRPr lang="es-MX" dirty="0"/>
          </a:p>
        </p:txBody>
      </p:sp>
      <p:pic>
        <p:nvPicPr>
          <p:cNvPr id="4" name="Imagen 3" descr="C:\Users\yaira\OneDrive\Pictures\Screenshots\Captura de pantalla (755)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780" y="1899868"/>
            <a:ext cx="5612130" cy="31565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19064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8FFA3E9-5E2A-8B5F-BDB1-14655282F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EE8D702-AA60-3FD8-ACFC-5FAB51EDC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spcBef>
                <a:spcPts val="1000"/>
              </a:spcBef>
            </a:pPr>
            <a:r>
              <a:rPr lang="es-MX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EJERCICIO 4</a:t>
            </a:r>
            <a:endParaRPr lang="es-MX" b="1" kern="0" dirty="0">
              <a:solidFill>
                <a:srgbClr val="FF0000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95427041-8F85-640F-6CB5-7659BACC4C7A}"/>
              </a:ext>
            </a:extLst>
          </p:cNvPr>
          <p:cNvSpPr txBox="1"/>
          <p:nvPr/>
        </p:nvSpPr>
        <p:spPr>
          <a:xfrm>
            <a:off x="5897973" y="2440569"/>
            <a:ext cx="6117046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/>
              <a:t>Panel de resultados correspondiente a la cuarta ejecución en Python. Se observa un </a:t>
            </a:r>
            <a:r>
              <a:rPr lang="es-ES" b="1" dirty="0"/>
              <a:t>inventario final de 65 unidades</a:t>
            </a:r>
            <a:r>
              <a:rPr lang="es-ES" dirty="0"/>
              <a:t>, una demanda total acumulada de 435 unidades, 5 pedidos procesados y </a:t>
            </a:r>
            <a:r>
              <a:rPr lang="es-ES" b="1" dirty="0"/>
              <a:t>0 días con desabasto</a:t>
            </a:r>
            <a:r>
              <a:rPr lang="es-ES" dirty="0"/>
              <a:t>, confirmando nuevamente un inventario totalmente estable. </a:t>
            </a:r>
            <a:endParaRPr lang="es-MX" dirty="0"/>
          </a:p>
        </p:txBody>
      </p:sp>
      <p:pic>
        <p:nvPicPr>
          <p:cNvPr id="4" name="Imagen 3" descr="C:\Users\yaira\OneDrive\Pictures\Screenshots\Captura de pantalla (756)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68" y="2047352"/>
            <a:ext cx="5612130" cy="31565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294122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8FFA3E9-5E2A-8B5F-BDB1-14655282F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EE8D702-AA60-3FD8-ACFC-5FAB51EDC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spcBef>
                <a:spcPts val="1000"/>
              </a:spcBef>
            </a:pPr>
            <a:r>
              <a:rPr lang="es-MX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EJERCICIO 5</a:t>
            </a:r>
            <a:endParaRPr lang="es-MX" b="1" kern="0" dirty="0">
              <a:solidFill>
                <a:srgbClr val="FF0000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95427041-8F85-640F-6CB5-7659BACC4C7A}"/>
              </a:ext>
            </a:extLst>
          </p:cNvPr>
          <p:cNvSpPr txBox="1"/>
          <p:nvPr/>
        </p:nvSpPr>
        <p:spPr>
          <a:xfrm>
            <a:off x="5927470" y="2479899"/>
            <a:ext cx="6117046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/>
              <a:t>Vista final de la quinta iteración del simulador de inventarios en Python. El sistema registra un </a:t>
            </a:r>
            <a:r>
              <a:rPr lang="es-ES" b="1" dirty="0"/>
              <a:t>inventario final de 66 unidades</a:t>
            </a:r>
            <a:r>
              <a:rPr lang="es-ES" dirty="0"/>
              <a:t>, una demanda total de 437 unidades, 5 pedidos y </a:t>
            </a:r>
            <a:r>
              <a:rPr lang="es-ES" b="1" dirty="0"/>
              <a:t>1 día con desabasto</a:t>
            </a:r>
            <a:r>
              <a:rPr lang="es-ES" dirty="0"/>
              <a:t> (con un déficit de 3 unidades), cerrando de manera exitosa el banco de prácticas de la materia.</a:t>
            </a:r>
            <a:endParaRPr lang="es-MX" dirty="0"/>
          </a:p>
        </p:txBody>
      </p:sp>
      <p:pic>
        <p:nvPicPr>
          <p:cNvPr id="4" name="Imagen 3" descr="C:\Users\yaira\OneDrive\Pictures\Screenshots\Captura de pantalla (757)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942" y="2116178"/>
            <a:ext cx="5612130" cy="31565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05943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8FFA3E9-5E2A-8B5F-BDB1-14655282F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EE8D702-AA60-3FD8-ACFC-5FAB51EDC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>
              <a:spcBef>
                <a:spcPts val="1000"/>
              </a:spcBef>
            </a:pPr>
            <a:r>
              <a:rPr lang="es-MX" sz="3200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PROGRAMA 1 EN JAVA INTELLI J IDEA FILA_ESPERA</a:t>
            </a:r>
            <a:br>
              <a:rPr lang="es-MX" sz="3200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</a:br>
            <a:r>
              <a:rPr lang="es-MX" sz="3200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 </a:t>
            </a:r>
            <a:r>
              <a:rPr lang="pt-BR" sz="3200" b="1" dirty="0" smtClean="0">
                <a:solidFill>
                  <a:srgbClr val="FF0000"/>
                </a:solidFill>
              </a:rPr>
              <a:t>EJERCICIO 1</a:t>
            </a:r>
            <a:r>
              <a:rPr lang="pt-BR" sz="3200" dirty="0" smtClean="0">
                <a:solidFill>
                  <a:srgbClr val="FF0000"/>
                </a:solidFill>
              </a:rPr>
              <a:t> </a:t>
            </a:r>
            <a:endParaRPr lang="es-MX" sz="3200" b="1" kern="0" dirty="0">
              <a:solidFill>
                <a:srgbClr val="FF0000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95427041-8F85-640F-6CB5-7659BACC4C7A}"/>
              </a:ext>
            </a:extLst>
          </p:cNvPr>
          <p:cNvSpPr txBox="1"/>
          <p:nvPr/>
        </p:nvSpPr>
        <p:spPr>
          <a:xfrm>
            <a:off x="6096000" y="2388089"/>
            <a:ext cx="5876260" cy="295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/>
              <a:t>Vista de la interfaz gráfica desarrollada en </a:t>
            </a:r>
            <a:r>
              <a:rPr lang="es-ES" dirty="0" err="1"/>
              <a:t>IntelliJ</a:t>
            </a:r>
            <a:r>
              <a:rPr lang="es-ES" dirty="0"/>
              <a:t> IDEA mostrando los resultados tras simular 30 clientes con una media entre llegadas de 4.00 y una media de servicio de 5.00. Se registra una </a:t>
            </a:r>
            <a:r>
              <a:rPr lang="es-ES" b="1" dirty="0"/>
              <a:t>espera promedio de 35.06 unidades de tiempo</a:t>
            </a:r>
            <a:r>
              <a:rPr lang="es-ES" dirty="0"/>
              <a:t>, una espera máxima de 82.67, una cola máxima de 14 clientes y una </a:t>
            </a:r>
            <a:r>
              <a:rPr lang="es-ES" b="1" dirty="0"/>
              <a:t>utilización del servidor del 98.74%</a:t>
            </a:r>
            <a:r>
              <a:rPr lang="es-ES" dirty="0"/>
              <a:t>, reflejando un nivel elevado de saturación en el sistema. </a:t>
            </a:r>
            <a:endParaRPr lang="es-MX" dirty="0"/>
          </a:p>
        </p:txBody>
      </p:sp>
      <p:pic>
        <p:nvPicPr>
          <p:cNvPr id="4" name="Imagen 3" descr="C:\Users\yaira\OneDrive\Pictures\Screenshots\Captura de pantalla (758)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613" y="2288726"/>
            <a:ext cx="5612130" cy="31565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76916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8FFA3E9-5E2A-8B5F-BDB1-14655282F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EE8D702-AA60-3FD8-ACFC-5FAB51EDC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spcBef>
                <a:spcPts val="1000"/>
              </a:spcBef>
            </a:pPr>
            <a:r>
              <a:rPr lang="es-MX" sz="4000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EJERCICIO 2</a:t>
            </a:r>
            <a:endParaRPr lang="es-MX" sz="4000" b="1" kern="0" dirty="0">
              <a:solidFill>
                <a:srgbClr val="FF0000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95427041-8F85-640F-6CB5-7659BACC4C7A}"/>
              </a:ext>
            </a:extLst>
          </p:cNvPr>
          <p:cNvSpPr txBox="1"/>
          <p:nvPr/>
        </p:nvSpPr>
        <p:spPr>
          <a:xfrm>
            <a:off x="5946641" y="2482789"/>
            <a:ext cx="5891397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/>
              <a:t>Resultado de la segunda ejecución del programa en Java bajo los mismos parámetros de entrada. Los indicadores muestran una </a:t>
            </a:r>
            <a:r>
              <a:rPr lang="es-ES" b="1" dirty="0"/>
              <a:t>espera promedio de 13.01 unidades de tiempo</a:t>
            </a:r>
            <a:r>
              <a:rPr lang="es-ES" dirty="0"/>
              <a:t>, una espera máxima de 32.40, una cola máxima de 7 clientes y una </a:t>
            </a:r>
            <a:r>
              <a:rPr lang="es-ES" b="1" dirty="0"/>
              <a:t>utilización del servidor del 85.68%</a:t>
            </a:r>
            <a:r>
              <a:rPr lang="es-ES" dirty="0"/>
              <a:t>, evidenciando un comportamiento mucho más fluido en la atención. </a:t>
            </a:r>
            <a:endParaRPr lang="es-MX" dirty="0"/>
          </a:p>
        </p:txBody>
      </p:sp>
      <p:pic>
        <p:nvPicPr>
          <p:cNvPr id="5" name="Imagen 4" descr="C:\Users\yaira\OneDrive\Pictures\Screenshots\Captura de pantalla (759)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74" y="2283326"/>
            <a:ext cx="5612130" cy="31565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17494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8FFA3E9-5E2A-8B5F-BDB1-14655282F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EE8D702-AA60-3FD8-ACFC-5FAB51EDC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spcBef>
                <a:spcPts val="1000"/>
              </a:spcBef>
            </a:pPr>
            <a:r>
              <a:rPr lang="es-MX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EJERCICIO 3</a:t>
            </a:r>
            <a:endParaRPr lang="es-MX" b="1" kern="0" dirty="0">
              <a:solidFill>
                <a:srgbClr val="FF0000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95427041-8F85-640F-6CB5-7659BACC4C7A}"/>
              </a:ext>
            </a:extLst>
          </p:cNvPr>
          <p:cNvSpPr txBox="1"/>
          <p:nvPr/>
        </p:nvSpPr>
        <p:spPr>
          <a:xfrm>
            <a:off x="6096000" y="2160260"/>
            <a:ext cx="5752148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/>
              <a:t>Vista de la aplicación durante la tercera iteración del modelo en Java. El panel de resultados muestra una </a:t>
            </a:r>
            <a:r>
              <a:rPr lang="es-ES" b="1" dirty="0"/>
              <a:t>espera promedio reducida a 2.49 unidades de tiempo</a:t>
            </a:r>
            <a:r>
              <a:rPr lang="es-ES" dirty="0"/>
              <a:t>, una espera máxima de 8.52, una cola máxima de solo 3 clientes y una </a:t>
            </a:r>
            <a:r>
              <a:rPr lang="es-ES" b="1" dirty="0"/>
              <a:t>utilización del servidor del 71.04%</a:t>
            </a:r>
            <a:r>
              <a:rPr lang="es-ES" dirty="0"/>
              <a:t>, indicando una carga de trabajo moderada y eficiente. </a:t>
            </a:r>
            <a:endParaRPr lang="es-MX" dirty="0"/>
          </a:p>
        </p:txBody>
      </p:sp>
      <p:pic>
        <p:nvPicPr>
          <p:cNvPr id="4" name="Imagen 3" descr="C:\Users\yaira\OneDrive\Pictures\Screenshots\Captura de pantalla (760)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587" y="1988359"/>
            <a:ext cx="5612130" cy="31565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234946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8FFA3E9-5E2A-8B5F-BDB1-14655282F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EE8D702-AA60-3FD8-ACFC-5FAB51EDC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spcBef>
                <a:spcPts val="1000"/>
              </a:spcBef>
            </a:pPr>
            <a:r>
              <a:rPr lang="es-MX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EJERCICIO 4</a:t>
            </a:r>
            <a:endParaRPr lang="es-MX" b="1" kern="0" dirty="0">
              <a:solidFill>
                <a:srgbClr val="FF0000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95427041-8F85-640F-6CB5-7659BACC4C7A}"/>
              </a:ext>
            </a:extLst>
          </p:cNvPr>
          <p:cNvSpPr txBox="1"/>
          <p:nvPr/>
        </p:nvSpPr>
        <p:spPr>
          <a:xfrm>
            <a:off x="6096000" y="2406067"/>
            <a:ext cx="5752148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/>
              <a:t>Panel de resultados correspondiente a la cuarta ejecución del software en </a:t>
            </a:r>
            <a:r>
              <a:rPr lang="es-ES" dirty="0" err="1"/>
              <a:t>IntelliJ</a:t>
            </a:r>
            <a:r>
              <a:rPr lang="es-ES" dirty="0"/>
              <a:t> IDEA. Se observa una </a:t>
            </a:r>
            <a:r>
              <a:rPr lang="es-ES" b="1" dirty="0"/>
              <a:t>espera promedio de 10.41 unidades de tiempo</a:t>
            </a:r>
            <a:r>
              <a:rPr lang="es-ES" dirty="0"/>
              <a:t>, una espera máxima de 31.39, una cola máxima de 7 clientes y una </a:t>
            </a:r>
            <a:r>
              <a:rPr lang="es-ES" b="1" dirty="0"/>
              <a:t>utilización del servidor del 82.31%</a:t>
            </a:r>
            <a:r>
              <a:rPr lang="es-ES" dirty="0"/>
              <a:t>, manteniendo un balance operativo estable.</a:t>
            </a:r>
            <a:endParaRPr lang="es-MX" dirty="0"/>
          </a:p>
        </p:txBody>
      </p:sp>
      <p:pic>
        <p:nvPicPr>
          <p:cNvPr id="4" name="Imagen 3" descr="C:\Users\yaira\OneDrive\Pictures\Screenshots\Captura de pantalla (761)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70" y="2293159"/>
            <a:ext cx="5612130" cy="31565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84727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8FFA3E9-5E2A-8B5F-BDB1-14655282F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EE8D702-AA60-3FD8-ACFC-5FAB51EDC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spcBef>
                <a:spcPts val="1000"/>
              </a:spcBef>
            </a:pPr>
            <a:r>
              <a:rPr lang="es-MX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EJERCICIO 5</a:t>
            </a:r>
            <a:endParaRPr lang="es-MX" b="1" kern="0" dirty="0">
              <a:solidFill>
                <a:srgbClr val="FF0000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95427041-8F85-640F-6CB5-7659BACC4C7A}"/>
              </a:ext>
            </a:extLst>
          </p:cNvPr>
          <p:cNvSpPr txBox="1"/>
          <p:nvPr/>
        </p:nvSpPr>
        <p:spPr>
          <a:xfrm>
            <a:off x="6096000" y="2386402"/>
            <a:ext cx="5752148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/>
              <a:t>Vista final de la quinta iteración del simulador de línea de espera en Java. Los datos finales registran una </a:t>
            </a:r>
            <a:r>
              <a:rPr lang="es-ES" b="1" dirty="0"/>
              <a:t>espera promedio de 40.43 unidades de tiempo</a:t>
            </a:r>
            <a:r>
              <a:rPr lang="es-ES" dirty="0"/>
              <a:t>, una espera máxima de 71.79, una cola máxima de 15 clientes y una </a:t>
            </a:r>
            <a:r>
              <a:rPr lang="es-ES" b="1" dirty="0"/>
              <a:t>utilización del servidor del 97.72%</a:t>
            </a:r>
            <a:r>
              <a:rPr lang="es-ES" dirty="0"/>
              <a:t>, cerrando el bloque con un escenario de alta congestión. </a:t>
            </a:r>
            <a:endParaRPr lang="es-MX" dirty="0"/>
          </a:p>
        </p:txBody>
      </p:sp>
      <p:pic>
        <p:nvPicPr>
          <p:cNvPr id="4" name="Imagen 3" descr="C:\Users\yaira\OneDrive\Pictures\Screenshots\Captura de pantalla (762)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419" y="2214500"/>
            <a:ext cx="5612130" cy="31565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56731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8FFA3E9-5E2A-8B5F-BDB1-14655282F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EE8D702-AA60-3FD8-ACFC-5FAB51EDC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spcBef>
                <a:spcPts val="1000"/>
              </a:spcBef>
            </a:pPr>
            <a:r>
              <a:rPr lang="es-MX" sz="4000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PROGRAMA 2 EN JAVA INTELLI J IDEA SISTEMA_INVENTARIO</a:t>
            </a:r>
            <a:r>
              <a:rPr lang="es-MX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/>
            </a:r>
            <a:br>
              <a:rPr lang="es-MX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</a:br>
            <a:r>
              <a:rPr lang="es-MX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EJERCICIO 1</a:t>
            </a:r>
            <a:endParaRPr lang="es-MX" b="1" kern="0" dirty="0">
              <a:solidFill>
                <a:srgbClr val="FF0000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95427041-8F85-640F-6CB5-7659BACC4C7A}"/>
              </a:ext>
            </a:extLst>
          </p:cNvPr>
          <p:cNvSpPr txBox="1"/>
          <p:nvPr/>
        </p:nvSpPr>
        <p:spPr>
          <a:xfrm>
            <a:off x="5978013" y="2343941"/>
            <a:ext cx="5613990" cy="295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/>
              <a:t>Vista de la interfaz del simulador desarrollado en Java tras procesar 30 días con un inventario inicial de 100 unidades, demanda promedio de 15, punto de </a:t>
            </a:r>
            <a:r>
              <a:rPr lang="es-ES" dirty="0" err="1"/>
              <a:t>reorden</a:t>
            </a:r>
            <a:r>
              <a:rPr lang="es-ES" dirty="0"/>
              <a:t> de 30, lote de pedido de 80 y 2 días de tiempo de entrega. Se registra un </a:t>
            </a:r>
            <a:r>
              <a:rPr lang="es-ES" b="1" dirty="0"/>
              <a:t>inventario final de 32 unidades</a:t>
            </a:r>
            <a:r>
              <a:rPr lang="es-ES" dirty="0"/>
              <a:t>, una demanda total de 468 unidades, 5 pedidos realizados y </a:t>
            </a:r>
            <a:r>
              <a:rPr lang="es-ES" b="1" dirty="0"/>
              <a:t>0 días con desabasto</a:t>
            </a:r>
            <a:r>
              <a:rPr lang="es-ES" dirty="0"/>
              <a:t>, mostrando una operación estable. </a:t>
            </a:r>
            <a:endParaRPr lang="es-MX" dirty="0"/>
          </a:p>
        </p:txBody>
      </p:sp>
      <p:pic>
        <p:nvPicPr>
          <p:cNvPr id="4" name="Imagen 3" descr="C:\Users\yaira\OneDrive\Pictures\Screenshots\Captura de pantalla (763)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218" y="2244578"/>
            <a:ext cx="5612130" cy="31565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96084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8FFA3E9-5E2A-8B5F-BDB1-14655282F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EE8D702-AA60-3FD8-ACFC-5FAB51EDC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spcBef>
                <a:spcPts val="1000"/>
              </a:spcBef>
            </a:pPr>
            <a:r>
              <a:rPr lang="es-MX" sz="3600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EJERCICIO 2</a:t>
            </a:r>
            <a:endParaRPr lang="es-MX" sz="3600" b="1" kern="0" dirty="0">
              <a:solidFill>
                <a:srgbClr val="FF0000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95427041-8F85-640F-6CB5-7659BACC4C7A}"/>
              </a:ext>
            </a:extLst>
          </p:cNvPr>
          <p:cNvSpPr txBox="1"/>
          <p:nvPr/>
        </p:nvSpPr>
        <p:spPr>
          <a:xfrm>
            <a:off x="5928121" y="2488885"/>
            <a:ext cx="5760262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/>
              <a:t>Resultado de la segunda ejecución del programa. Los indicadores finales muestran un </a:t>
            </a:r>
            <a:r>
              <a:rPr lang="es-ES" b="1" dirty="0"/>
              <a:t>inventario final de 67 unidades</a:t>
            </a:r>
            <a:r>
              <a:rPr lang="es-ES" dirty="0"/>
              <a:t>, una demanda total acumulada de 433 unidades, 5 pedidos y </a:t>
            </a:r>
            <a:r>
              <a:rPr lang="es-ES" b="1" dirty="0"/>
              <a:t>0 días con desabasto</a:t>
            </a:r>
            <a:r>
              <a:rPr lang="es-ES" dirty="0"/>
              <a:t>, manteniendo la estabilidad en la gestión del stock. </a:t>
            </a:r>
            <a:endParaRPr lang="es-MX" dirty="0"/>
          </a:p>
        </p:txBody>
      </p:sp>
      <p:pic>
        <p:nvPicPr>
          <p:cNvPr id="4" name="Imagen 3" descr="C:\Users\yaira\OneDrive\Pictures\Screenshots\Captura de pantalla (764)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73" y="2047353"/>
            <a:ext cx="5612130" cy="31565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0662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8FFA3E9-5E2A-8B5F-BDB1-14655282F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EE8D702-AA60-3FD8-ACFC-5FAB51EDC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spcBef>
                <a:spcPts val="1000"/>
              </a:spcBef>
            </a:pPr>
            <a:r>
              <a:rPr lang="es-MX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EJERCICIO 3 </a:t>
            </a:r>
            <a:endParaRPr lang="es-MX" b="1" kern="0" dirty="0">
              <a:solidFill>
                <a:srgbClr val="FF0000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95427041-8F85-640F-6CB5-7659BACC4C7A}"/>
              </a:ext>
            </a:extLst>
          </p:cNvPr>
          <p:cNvSpPr txBox="1"/>
          <p:nvPr/>
        </p:nvSpPr>
        <p:spPr>
          <a:xfrm>
            <a:off x="5948516" y="2593950"/>
            <a:ext cx="5876925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/>
              <a:t>Vista de la aplicación durante la tercera iteración del modelo. El panel de resultados registra un </a:t>
            </a:r>
            <a:r>
              <a:rPr lang="es-ES" b="1" dirty="0"/>
              <a:t>inventario final de 28 unidades</a:t>
            </a:r>
            <a:r>
              <a:rPr lang="es-ES" dirty="0"/>
              <a:t>, una demanda total de 472 unidades, </a:t>
            </a:r>
            <a:r>
              <a:rPr lang="es-ES" b="1" dirty="0"/>
              <a:t>6 pedidos realizados</a:t>
            </a:r>
            <a:r>
              <a:rPr lang="es-ES" dirty="0"/>
              <a:t> debido a las fluctuaciones de la demanda y </a:t>
            </a:r>
            <a:r>
              <a:rPr lang="es-ES" b="1" dirty="0"/>
              <a:t>0 días con desabasto</a:t>
            </a:r>
            <a:r>
              <a:rPr lang="es-ES" dirty="0"/>
              <a:t>.</a:t>
            </a:r>
            <a:endParaRPr lang="es-MX" dirty="0"/>
          </a:p>
        </p:txBody>
      </p:sp>
      <p:pic>
        <p:nvPicPr>
          <p:cNvPr id="4" name="Imagen 3" descr="C:\Users\yaira\OneDrive\Pictures\Screenshots\Captura de pantalla (765)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86" y="2155507"/>
            <a:ext cx="5612130" cy="31565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25946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8FFA3E9-5E2A-8B5F-BDB1-14655282F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EE8D702-AA60-3FD8-ACFC-5FAB51EDC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spcBef>
                <a:spcPts val="1000"/>
              </a:spcBef>
            </a:pPr>
            <a:r>
              <a:rPr lang="es-MX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EJERCICIO 4 </a:t>
            </a:r>
            <a:endParaRPr lang="es-MX" b="1" kern="0" dirty="0">
              <a:solidFill>
                <a:srgbClr val="FF0000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95427041-8F85-640F-6CB5-7659BACC4C7A}"/>
              </a:ext>
            </a:extLst>
          </p:cNvPr>
          <p:cNvSpPr txBox="1"/>
          <p:nvPr/>
        </p:nvSpPr>
        <p:spPr>
          <a:xfrm>
            <a:off x="5774409" y="2546094"/>
            <a:ext cx="5898082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/>
              <a:t>Panel de resultados correspondiente a la cuarta ejecución. Se observa un </a:t>
            </a:r>
            <a:r>
              <a:rPr lang="es-ES" b="1" dirty="0"/>
              <a:t>inventario final de 51 unidades</a:t>
            </a:r>
            <a:r>
              <a:rPr lang="es-ES" dirty="0"/>
              <a:t>, una demanda total de 453 unidades, 5 pedidos y </a:t>
            </a:r>
            <a:r>
              <a:rPr lang="es-ES" b="1" dirty="0"/>
              <a:t>1 día con desabasto</a:t>
            </a:r>
            <a:r>
              <a:rPr lang="es-ES" dirty="0"/>
              <a:t> (marcando explícitamente el estado de desabasto en el día 28 de la tabla detallada), reflejando un quiebre temporal de inventario. </a:t>
            </a:r>
            <a:endParaRPr lang="es-MX" dirty="0"/>
          </a:p>
        </p:txBody>
      </p:sp>
      <p:pic>
        <p:nvPicPr>
          <p:cNvPr id="5" name="Imagen 4" descr="C:\Users\yaira\OneDrive\Pictures\Screenshots\Captura de pantalla (766)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79" y="2238982"/>
            <a:ext cx="5612130" cy="31565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39927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8FFA3E9-5E2A-8B5F-BDB1-14655282F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EE8D702-AA60-3FD8-ACFC-5FAB51EDC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spcBef>
                <a:spcPts val="1000"/>
              </a:spcBef>
            </a:pPr>
            <a:r>
              <a:rPr lang="es-MX" b="1" kern="0" dirty="0" smtClean="0">
                <a:solidFill>
                  <a:srgbClr val="FF0000"/>
                </a:solidFill>
                <a:ea typeface="+mn-ea"/>
                <a:cs typeface="Arial" panose="020B0604020202020204" pitchFamily="34" charset="0"/>
              </a:rPr>
              <a:t>EJERCICIO 5</a:t>
            </a:r>
            <a:endParaRPr lang="es-MX" b="1" kern="0" dirty="0">
              <a:solidFill>
                <a:srgbClr val="FF0000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95427041-8F85-640F-6CB5-7659BACC4C7A}"/>
              </a:ext>
            </a:extLst>
          </p:cNvPr>
          <p:cNvSpPr txBox="1"/>
          <p:nvPr/>
        </p:nvSpPr>
        <p:spPr>
          <a:xfrm>
            <a:off x="5862382" y="2349367"/>
            <a:ext cx="5859499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/>
              <a:t>Vista final de la quinta iteración del simulador de inventarios en Java. Los datos finales reflejan un </a:t>
            </a:r>
            <a:r>
              <a:rPr lang="es-ES" b="1" dirty="0"/>
              <a:t>inventario final de 52 unidades</a:t>
            </a:r>
            <a:r>
              <a:rPr lang="es-ES" dirty="0"/>
              <a:t>, una demanda total de 448 unidades, 5 pedidos procesados y </a:t>
            </a:r>
            <a:r>
              <a:rPr lang="es-ES" b="1" dirty="0"/>
              <a:t>0 días con desabasto</a:t>
            </a:r>
            <a:r>
              <a:rPr lang="es-ES" dirty="0"/>
              <a:t>, concluyendo de manera exitosa todo tu banco de ejercicios y prácticas de la materia. </a:t>
            </a:r>
            <a:endParaRPr lang="es-MX" dirty="0"/>
          </a:p>
        </p:txBody>
      </p:sp>
      <p:pic>
        <p:nvPicPr>
          <p:cNvPr id="5" name="Imagen 4" descr="C:\Users\yaira\OneDrive\Pictures\Screenshots\Captura de pantalla (767)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09" y="2008023"/>
            <a:ext cx="5612130" cy="31565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97310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130AC5D9-9FD1-99B5-CB0C-FC5B34DE4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837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4400" b="1" dirty="0">
                <a:solidFill>
                  <a:schemeClr val="accent1"/>
                </a:solidFill>
                <a:latin typeface="+mj-lt"/>
              </a:rPr>
              <a:t>Conclusión</a:t>
            </a:r>
          </a:p>
          <a:p>
            <a:pPr marL="0" indent="0">
              <a:buNone/>
            </a:pPr>
            <a:endParaRPr lang="es-MX" dirty="0"/>
          </a:p>
          <a:p>
            <a:pPr marL="0" indent="0" algn="just">
              <a:buNone/>
            </a:pPr>
            <a:r>
              <a:rPr lang="es-MX" dirty="0"/>
              <a:t>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DAA4F6D6-07BF-8DDB-B0CF-B5EA37EF780F}"/>
              </a:ext>
            </a:extLst>
          </p:cNvPr>
          <p:cNvSpPr txBox="1"/>
          <p:nvPr/>
        </p:nvSpPr>
        <p:spPr>
          <a:xfrm>
            <a:off x="914093" y="1780283"/>
            <a:ext cx="106299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800" dirty="0" smtClean="0"/>
              <a:t>El </a:t>
            </a:r>
            <a:r>
              <a:rPr lang="es-ES" sz="2800" dirty="0"/>
              <a:t>desarrollo de este banco de ejercicios mediante la implementación de modelos estocásticos en R, Python e </a:t>
            </a:r>
            <a:r>
              <a:rPr lang="es-ES" sz="2800" dirty="0" err="1"/>
              <a:t>IntelliJ</a:t>
            </a:r>
            <a:r>
              <a:rPr lang="es-ES" sz="2800" dirty="0"/>
              <a:t> IDEA permitió comprobar de forma práctica cómo la variabilidad en los tiempos de servicio, la demanda diaria y los plazos de entrega impactan directamente en el comportamiento operativo de las líneas de espera y los sistemas de inventarios; asimismo, demostró que el uso adecuado de parámetros de control y herramientas de simulación por computadora resulta indispensable para anticipar cuellos de botella, evitar quiebres de stock y optimizar la toma de decisiones bajo condiciones de incertidumbre en entornos reales.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559223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2964</TotalTime>
  <Words>2057</Words>
  <Application>Microsoft Office PowerPoint</Application>
  <PresentationFormat>Panorámica</PresentationFormat>
  <Paragraphs>90</Paragraphs>
  <Slides>35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41" baseType="lpstr">
      <vt:lpstr>Arial</vt:lpstr>
      <vt:lpstr>Calibri</vt:lpstr>
      <vt:lpstr>Calibri (Cuerpo)</vt:lpstr>
      <vt:lpstr>Calibri Light</vt:lpstr>
      <vt:lpstr>Times New Roman</vt:lpstr>
      <vt:lpstr>Tema de Office</vt:lpstr>
      <vt:lpstr>Presentación de PowerPoint</vt:lpstr>
      <vt:lpstr>Presentación de PowerPoint</vt:lpstr>
      <vt:lpstr>Presentación de PowerPoint</vt:lpstr>
      <vt:lpstr>JUSTIFICACION</vt:lpstr>
      <vt:lpstr> PROGRAMA 1 EN RSTUDIO (FILA_ESPERA) EJERCICIO 1 </vt:lpstr>
      <vt:lpstr>EJERCICIO 2 </vt:lpstr>
      <vt:lpstr>EJERCICIO 3 </vt:lpstr>
      <vt:lpstr>EJERCICIO 4 </vt:lpstr>
      <vt:lpstr>EJERCICIO 5 </vt:lpstr>
      <vt:lpstr>PROGRAMA 2 EN RSTUDIO SISTEMA_INVENTARIOS EJERCICIO 1</vt:lpstr>
      <vt:lpstr>EJERCICIO 2 </vt:lpstr>
      <vt:lpstr>EJERCICIO 3 </vt:lpstr>
      <vt:lpstr>EJERCICIO 4 </vt:lpstr>
      <vt:lpstr>EJERCICIO 5 </vt:lpstr>
      <vt:lpstr>PROGRAMA 1 EN PYTHON FILA_ESPERA EJERCICIO 1  </vt:lpstr>
      <vt:lpstr>EJERCICIO 2 </vt:lpstr>
      <vt:lpstr>EJERCICIO 3 </vt:lpstr>
      <vt:lpstr>EJERCICIO 4 </vt:lpstr>
      <vt:lpstr>EJERCICIO 5 </vt:lpstr>
      <vt:lpstr>PROGRAMA 2 EN PYTHON SISTEMA_INVENTARIO  EJERCICIO 1</vt:lpstr>
      <vt:lpstr>EJERCICIO 2</vt:lpstr>
      <vt:lpstr>EJERCICIO 3</vt:lpstr>
      <vt:lpstr>EJERCICIO 4</vt:lpstr>
      <vt:lpstr>EJERCICIO 5</vt:lpstr>
      <vt:lpstr>PROGRAMA 1 EN JAVA INTELLI J IDEA FILA_ESPERA  EJERCICIO 1 </vt:lpstr>
      <vt:lpstr>EJERCICIO 2</vt:lpstr>
      <vt:lpstr>EJERCICIO 3</vt:lpstr>
      <vt:lpstr>EJERCICIO 4</vt:lpstr>
      <vt:lpstr>EJERCICIO 5</vt:lpstr>
      <vt:lpstr>PROGRAMA 2 EN JAVA INTELLI J IDEA SISTEMA_INVENTARIO EJERCICIO 1</vt:lpstr>
      <vt:lpstr>EJERCICIO 2</vt:lpstr>
      <vt:lpstr>EJERCICIO 3 </vt:lpstr>
      <vt:lpstr>EJERCICIO 4 </vt:lpstr>
      <vt:lpstr>EJERCICIO 5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rafael aquino villanueva</dc:creator>
  <cp:lastModifiedBy>Cuenta Microsoft</cp:lastModifiedBy>
  <cp:revision>109</cp:revision>
  <dcterms:created xsi:type="dcterms:W3CDTF">2026-02-14T13:39:49Z</dcterms:created>
  <dcterms:modified xsi:type="dcterms:W3CDTF">2026-10-03T21:20:21Z</dcterms:modified>
</cp:coreProperties>
</file>